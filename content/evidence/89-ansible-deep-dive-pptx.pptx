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1188720"/>
            <a:ext cx="4663440" cy="4663440"/>
          </a:xfrm>
          <a:prstGeom prst="ellipse">
            <a:avLst/>
          </a:prstGeom>
          <a:noFill/>
          <a:ln w="19050">
            <a:solidFill>
              <a:srgbClr val="351C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17736" y="3374136"/>
            <a:ext cx="292608" cy="29260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9106776" y="1494296"/>
            <a:ext cx="357264" cy="2026144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006192" y="1393712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9464040" y="2816767"/>
            <a:ext cx="1933323" cy="703673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296779" y="2716183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464040" y="3520440"/>
            <a:ext cx="1180076" cy="1685323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43532" y="5105179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8141568" y="3520440"/>
            <a:ext cx="1322472" cy="1576059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40984" y="4995915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7599402" y="2650945"/>
            <a:ext cx="1864638" cy="869495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98818" y="2550361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9464040" y="1494296"/>
            <a:ext cx="357263" cy="2026144"/>
          </a:xfrm>
          <a:prstGeom prst="line">
            <a:avLst/>
          </a:prstGeom>
          <a:ln w="15875">
            <a:solidFill>
              <a:srgbClr val="351C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720719" y="1393712"/>
            <a:ext cx="201168" cy="201168"/>
          </a:xfrm>
          <a:prstGeom prst="ellipse">
            <a:avLst/>
          </a:prstGeom>
          <a:solidFill>
            <a:srgbClr val="35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5644" y="82936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41248" y="802065"/>
            <a:ext cx="63042" cy="52899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86002" y="78377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763915" y="826817"/>
            <a:ext cx="77333" cy="2814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5627" y="80852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ANSIBLE // DEEP 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8800"/>
            <a:ext cx="8686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F5F1F1"/>
                </a:solidFill>
                <a:latin typeface="Cambria"/>
              </a:rPr>
              <a:t>GOING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>
                <a:solidFill>
                  <a:srgbClr val="D10012"/>
                </a:solidFill>
                <a:latin typeface="Cambria"/>
              </a:rPr>
              <a:t>DEEPER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9AEB0"/>
                </a:solidFill>
                <a:latin typeface="Calibri"/>
              </a:rPr>
              <a:t>From config files to Collections — the pieces real automation is built from.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29200"/>
            <a:ext cx="1219809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1219809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CONFIG &amp; YAML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70785" y="5029200"/>
            <a:ext cx="934516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0785" y="5029200"/>
            <a:ext cx="93451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INVENTORY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33318" y="5029200"/>
            <a:ext cx="934516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3318" y="5029200"/>
            <a:ext cx="93451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VARIABLES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5851" y="5029200"/>
            <a:ext cx="934516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5851" y="5029200"/>
            <a:ext cx="93451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PLAYBOOKS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58383" y="5029200"/>
            <a:ext cx="1505102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3" y="5029200"/>
            <a:ext cx="1505102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MODULES &amp; PLUGINS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1502" y="5029200"/>
            <a:ext cx="1647748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1502" y="5029200"/>
            <a:ext cx="16477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ROLES &amp; COLLECTIONS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67267" y="5029200"/>
            <a:ext cx="934516" cy="329184"/>
          </a:xfrm>
          <a:prstGeom prst="roundRect">
            <a:avLst>
              <a:gd name="adj" fmla="val 50000"/>
            </a:avLst>
          </a:prstGeom>
          <a:solidFill>
            <a:srgbClr val="241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7267" y="5029200"/>
            <a:ext cx="934516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B9AEB0"/>
                </a:solidFill>
                <a:latin typeface="Courier New"/>
              </a:rPr>
              <a:t>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AEB0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AEB0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Ansible's Config File &amp; YAML Rules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ansible.cfg controls how Ansible behaves — things like where your inventory lives, and how many servers it talks to at once.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Ansible looks for this file in a fixed order, top to bottom, and stops at the first one it finds.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YAML is picky about spacing: always 2 spaces per level, and never a tab character.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2194560"/>
            <a:ext cx="474573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C1517"/>
                </a:solidFill>
                <a:latin typeface="Courier New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94560"/>
            <a:ext cx="456285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10012"/>
                </a:solidFill>
                <a:latin typeface="Courier New"/>
              </a:rPr>
              <a:t>ANSIBLE_CONFIG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5254"/>
                </a:solidFill>
                <a:latin typeface="Calibri"/>
              </a:rPr>
              <a:t>environment variable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63940" y="2880360"/>
            <a:ext cx="0" cy="201168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17920" y="310896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108960"/>
            <a:ext cx="474573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C1517"/>
                </a:solidFill>
                <a:latin typeface="Courier New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108960"/>
            <a:ext cx="456285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C1517"/>
                </a:solidFill>
                <a:latin typeface="Courier New"/>
              </a:rPr>
              <a:t>./ansible.cfg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5254"/>
                </a:solidFill>
                <a:latin typeface="Calibri"/>
              </a:rPr>
              <a:t>this project's folder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3940" y="3794760"/>
            <a:ext cx="0" cy="201168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0" y="402336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023360"/>
            <a:ext cx="474573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C1517"/>
                </a:solidFill>
                <a:latin typeface="Courier New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023360"/>
            <a:ext cx="456285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C1517"/>
                </a:solidFill>
                <a:latin typeface="Courier New"/>
              </a:rPr>
              <a:t>~/.ansible.cfg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5254"/>
                </a:solidFill>
                <a:latin typeface="Calibri"/>
              </a:rPr>
              <a:t>your home folder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63940" y="4709160"/>
            <a:ext cx="0" cy="201168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17920" y="493776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937760"/>
            <a:ext cx="474573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C1517"/>
                </a:solidFill>
                <a:latin typeface="Courier New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937760"/>
            <a:ext cx="456285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C1517"/>
                </a:solidFill>
                <a:latin typeface="Courier New"/>
              </a:rPr>
              <a:t>/etc/ansible/ansible.cfg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5254"/>
                </a:solidFill>
                <a:latin typeface="Calibri"/>
              </a:rPr>
              <a:t>system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79" y="5650992"/>
            <a:ext cx="50749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A5254"/>
                </a:solidFill>
                <a:latin typeface="Calibri"/>
              </a:rPr>
              <a:t>Ansible stops at the first file it finds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WHO ANSIBLE MANAGES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Organizing Servers Into Groups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List every server in an inventory file — plain text (INI) or YAML.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Group them by role, like webservers or dbservers, so a playbook can target exactly the right 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group can be the parent of other groups — everything inside inherits its settings.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194560"/>
            <a:ext cx="4983480" cy="566928"/>
          </a:xfrm>
          <a:prstGeom prst="roundRect">
            <a:avLst>
              <a:gd name="adj" fmla="val 16000"/>
            </a:avLst>
          </a:prstGeom>
          <a:noFill/>
          <a:ln w="17780">
            <a:solidFill>
              <a:srgbClr val="5A5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4983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517"/>
                </a:solidFill>
                <a:latin typeface="Courier New"/>
              </a:rPr>
              <a:t>[production]  —  parent group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20940" y="2788920"/>
            <a:ext cx="0" cy="164592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06940" y="2788920"/>
            <a:ext cx="0" cy="164592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52259" y="3035808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5412" y="3035808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517"/>
                </a:solidFill>
                <a:latin typeface="Courier New"/>
              </a:rPr>
              <a:t>[webservers]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8260" y="3035808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1412" y="3035808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517"/>
                </a:solidFill>
                <a:latin typeface="Courier New"/>
              </a:rPr>
              <a:t>[dbservers]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43700" y="3520440"/>
            <a:ext cx="0" cy="283464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487668" y="3803904"/>
            <a:ext cx="512064" cy="512064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09283" y="3980566"/>
            <a:ext cx="268833" cy="158739"/>
          </a:xfrm>
          <a:prstGeom prst="roundRect">
            <a:avLst>
              <a:gd name="adj" fmla="val 18000"/>
            </a:avLst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1543" y="4025013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41543" y="4094858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8973" y="4015488"/>
            <a:ext cx="26883" cy="26883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43342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ourier New"/>
              </a:rPr>
              <a:t>app01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98179" y="3520440"/>
            <a:ext cx="0" cy="283464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42148" y="3803904"/>
            <a:ext cx="512064" cy="512064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63763" y="3980566"/>
            <a:ext cx="268833" cy="158739"/>
          </a:xfrm>
          <a:prstGeom prst="roundRect">
            <a:avLst>
              <a:gd name="adj" fmla="val 18000"/>
            </a:avLst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6023" y="4025013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6023" y="4094858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73453" y="4015488"/>
            <a:ext cx="26883" cy="26883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5259" y="43342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ourier New"/>
              </a:rPr>
              <a:t>app02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06940" y="3520440"/>
            <a:ext cx="0" cy="283464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550908" y="3803904"/>
            <a:ext cx="512064" cy="512064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2523" y="3980566"/>
            <a:ext cx="268833" cy="158739"/>
          </a:xfrm>
          <a:prstGeom prst="roundRect">
            <a:avLst>
              <a:gd name="adj" fmla="val 18000"/>
            </a:avLst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04783" y="4025013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04783" y="4094858"/>
            <a:ext cx="134416" cy="15873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82213" y="4015488"/>
            <a:ext cx="26883" cy="26883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4019" y="43342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ourier New"/>
              </a:rPr>
              <a:t>db01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5669279"/>
            <a:ext cx="50749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production:children  →  webservers, dbservers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WHERE VALUES COME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Variables, Facts &amp; Who Wins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Facts are details Ansible collects automatically about each server — OS, IP address, memory, and more.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The same variable name can be set in several places at once. Ansible needs a rule for which one counts.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Extra vars, passed with -e on the command line, always win — no matter what else is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79" y="2148839"/>
            <a:ext cx="5074920" cy="603504"/>
          </a:xfrm>
          <a:prstGeom prst="roundRect">
            <a:avLst>
              <a:gd name="adj" fmla="val 25000"/>
            </a:avLst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3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AF8F8"/>
                </a:solidFill>
                <a:latin typeface="Cambria"/>
              </a:rPr>
              <a:t>Extra Vars  (-e)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FAF8F8"/>
                </a:solidFill>
                <a:latin typeface="Calibri"/>
              </a:rPr>
              <a:t>always wins, no exceptions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2521" y="2843783"/>
            <a:ext cx="4662836" cy="603504"/>
          </a:xfrm>
          <a:prstGeom prst="roundRect">
            <a:avLst>
              <a:gd name="adj" fmla="val 25000"/>
            </a:avLst>
          </a:prstGeom>
          <a:solidFill>
            <a:srgbClr val="D93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9681" y="2843783"/>
            <a:ext cx="4388516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AF8F8"/>
                </a:solidFill>
                <a:latin typeface="Cambria"/>
              </a:rPr>
              <a:t>Task &amp; Block Vars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FAF8F8"/>
                </a:solidFill>
                <a:latin typeface="Calibri"/>
              </a:rPr>
              <a:t>set for one task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8563" y="3538727"/>
            <a:ext cx="4250752" cy="603504"/>
          </a:xfrm>
          <a:prstGeom prst="roundRect">
            <a:avLst>
              <a:gd name="adj" fmla="val 25000"/>
            </a:avLst>
          </a:prstGeom>
          <a:solidFill>
            <a:srgbClr val="E2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723" y="3538727"/>
            <a:ext cx="3976432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AF8F8"/>
                </a:solidFill>
                <a:latin typeface="Cambria"/>
              </a:rPr>
              <a:t>Play Vars &amp; vars_files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FAF8F8"/>
                </a:solidFill>
                <a:latin typeface="Calibri"/>
              </a:rPr>
              <a:t>set for the whole 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44605" y="4233672"/>
            <a:ext cx="3838669" cy="603504"/>
          </a:xfrm>
          <a:prstGeom prst="roundRect">
            <a:avLst>
              <a:gd name="adj" fmla="val 25000"/>
            </a:avLst>
          </a:prstGeom>
          <a:solidFill>
            <a:srgbClr val="EAB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1765" y="4233672"/>
            <a:ext cx="3564349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C1517"/>
                </a:solidFill>
                <a:latin typeface="Cambria"/>
              </a:rPr>
              <a:t>Inventory (Host / Group Vars)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C1517"/>
                </a:solidFill>
                <a:latin typeface="Calibri"/>
              </a:rPr>
              <a:t>set in your inventory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50647" y="4928616"/>
            <a:ext cx="3426585" cy="603504"/>
          </a:xfrm>
          <a:prstGeom prst="roundRect">
            <a:avLst>
              <a:gd name="adj" fmla="val 25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7807" y="4928616"/>
            <a:ext cx="315226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C1517"/>
                </a:solidFill>
                <a:latin typeface="Cambria"/>
              </a:rPr>
              <a:t>Role Defaults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C1517"/>
                </a:solidFill>
                <a:latin typeface="Calibri"/>
              </a:rPr>
              <a:t>easiest to override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1892807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D10012"/>
                </a:solidFill>
                <a:latin typeface="Courier New"/>
              </a:rPr>
              <a:t>STRONGEST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5586983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5A5254"/>
                </a:solidFill>
                <a:latin typeface="Courier New"/>
              </a:rPr>
              <a:t>WEAKEST — starting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THE AUTOMATION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Anatomy Of A Playbook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One Playbook can hold several Plays — each Play runs against one group of servers.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Play is a list of Tasks, and every Task calls exactly one Module to do the work.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Check it first: --syntax-check catches typos, --check previews the changes with nothing applied.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0820" y="2148839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3972" y="2148839"/>
            <a:ext cx="40599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517"/>
                </a:solidFill>
                <a:latin typeface="Courier New"/>
              </a:rPr>
              <a:t>site.yml  (Playbook)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3940" y="2633472"/>
            <a:ext cx="0" cy="237744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35140" y="2898648"/>
            <a:ext cx="3657600" cy="420624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8292" y="2898648"/>
            <a:ext cx="3511296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517"/>
                </a:solidFill>
                <a:latin typeface="Courier New"/>
              </a:rPr>
              <a:t>hosts: webservers  (Play)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2379" y="3346703"/>
            <a:ext cx="0" cy="256033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15500" y="3346703"/>
            <a:ext cx="0" cy="256033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97979" y="3630168"/>
            <a:ext cx="1737360" cy="384048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1131" y="3630168"/>
            <a:ext cx="159105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task: install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2540" y="3630168"/>
            <a:ext cx="1737360" cy="384048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5692" y="3630168"/>
            <a:ext cx="159105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task: configure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66660" y="4041648"/>
            <a:ext cx="0" cy="21945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61219" y="4041648"/>
            <a:ext cx="0" cy="21945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43700" y="4288536"/>
            <a:ext cx="1645920" cy="365760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6852" y="4288536"/>
            <a:ext cx="14996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10012"/>
                </a:solidFill>
                <a:latin typeface="Courier New"/>
              </a:rPr>
              <a:t>module: package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38260" y="4288536"/>
            <a:ext cx="1645920" cy="365760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1412" y="4288536"/>
            <a:ext cx="14996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10012"/>
                </a:solidFill>
                <a:latin typeface="Courier New"/>
              </a:rPr>
              <a:t>module: copy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4764024"/>
            <a:ext cx="5166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5A5254"/>
                </a:solidFill>
                <a:latin typeface="Courier New"/>
              </a:rPr>
              <a:t>CHECK BEFORE YOU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020056"/>
            <a:ext cx="1493520" cy="365760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5020056"/>
            <a:ext cx="13472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1517"/>
                </a:solidFill>
                <a:latin typeface="Courier New"/>
              </a:rPr>
              <a:t>syntax-check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29728" y="5202936"/>
            <a:ext cx="100584" cy="0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48599" y="5020056"/>
            <a:ext cx="1493520" cy="365760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1751" y="5020056"/>
            <a:ext cx="13472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1517"/>
                </a:solidFill>
                <a:latin typeface="Courier New"/>
              </a:rPr>
              <a:t>ansible-lint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60407" y="5202936"/>
            <a:ext cx="100585" cy="0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479279" y="5020056"/>
            <a:ext cx="1493520" cy="365760"/>
          </a:xfrm>
          <a:prstGeom prst="roundRect">
            <a:avLst>
              <a:gd name="adj" fmla="val 16000"/>
            </a:avLst>
          </a:prstGeom>
          <a:solidFill>
            <a:srgbClr val="E3F0E9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2431" y="5020056"/>
            <a:ext cx="13472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6B66"/>
                </a:solidFill>
                <a:latin typeface="Courier New"/>
              </a:rPr>
              <a:t>run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CONTROLLING WHAT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Conditionals &amp; Loops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when only runs a task if something is true — a fact, a variable, or an earlier result.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loop runs the very same task once per item in a list, instead of copy-pasting it four times.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Combine them: loop through a list, but skip whichever items don't match your condition.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0900" y="2194560"/>
            <a:ext cx="292608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4052" y="2194560"/>
            <a:ext cx="277977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task:  when: is_web</a:t>
            </a:r>
          </a:p>
        </p:txBody>
      </p:sp>
      <p:sp>
        <p:nvSpPr>
          <p:cNvPr id="19" name="Diamond 18"/>
          <p:cNvSpPr/>
          <p:nvPr/>
        </p:nvSpPr>
        <p:spPr>
          <a:xfrm>
            <a:off x="8097012" y="2377439"/>
            <a:ext cx="1133856" cy="1133856"/>
          </a:xfrm>
          <a:prstGeom prst="diamond">
            <a:avLst/>
          </a:prstGeom>
          <a:noFill/>
          <a:ln w="2286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012" y="2816351"/>
            <a:ext cx="113385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6B66"/>
                </a:solidFill>
                <a:latin typeface="Courier New"/>
              </a:rPr>
              <a:t>true?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309359" y="2944368"/>
            <a:ext cx="1787653" cy="0"/>
          </a:xfrm>
          <a:prstGeom prst="line">
            <a:avLst/>
          </a:prstGeom>
          <a:ln w="17780">
            <a:solidFill>
              <a:srgbClr val="E4DD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26479" y="2761487"/>
            <a:ext cx="1417320" cy="365760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761487"/>
            <a:ext cx="127101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5254"/>
                </a:solidFill>
                <a:latin typeface="Courier New"/>
              </a:rPr>
              <a:t>skipped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3940" y="3511296"/>
            <a:ext cx="0" cy="310895"/>
          </a:xfrm>
          <a:prstGeom prst="line">
            <a:avLst/>
          </a:prstGeom>
          <a:ln w="20320">
            <a:solidFill>
              <a:srgbClr val="2E6B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3779" y="3822191"/>
            <a:ext cx="2560320" cy="384048"/>
          </a:xfrm>
          <a:prstGeom prst="roundRect">
            <a:avLst>
              <a:gd name="adj" fmla="val 16000"/>
            </a:avLst>
          </a:prstGeom>
          <a:solidFill>
            <a:srgbClr val="E3F0E9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6931" y="3822191"/>
            <a:ext cx="2414015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66"/>
                </a:solidFill>
                <a:latin typeface="Courier New"/>
              </a:rPr>
              <a:t>task runs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2259" y="4462272"/>
            <a:ext cx="402336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5412" y="4462272"/>
            <a:ext cx="387705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1517"/>
                </a:solidFill>
                <a:latin typeface="Courier New"/>
              </a:rPr>
              <a:t>loop: [nginx, git, curl, htop]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08850" y="4901183"/>
            <a:ext cx="0" cy="14630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71106" y="5065776"/>
            <a:ext cx="475488" cy="475488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redefined Process 30"/>
          <p:cNvSpPr/>
          <p:nvPr/>
        </p:nvSpPr>
        <p:spPr>
          <a:xfrm>
            <a:off x="6678091" y="5172760"/>
            <a:ext cx="261518" cy="188293"/>
          </a:xfrm>
          <a:prstGeom prst="flowChartPredefinedProcess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577840"/>
            <a:ext cx="109042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nginx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45576" y="4901183"/>
            <a:ext cx="0" cy="14630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07832" y="5065776"/>
            <a:ext cx="475488" cy="475488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redefined Process 34"/>
          <p:cNvSpPr/>
          <p:nvPr/>
        </p:nvSpPr>
        <p:spPr>
          <a:xfrm>
            <a:off x="7914817" y="5172760"/>
            <a:ext cx="261518" cy="188293"/>
          </a:xfrm>
          <a:prstGeom prst="flowChartPredefinedProcess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00365" y="5577840"/>
            <a:ext cx="109042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git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82302" y="4901183"/>
            <a:ext cx="0" cy="14630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044558" y="5065776"/>
            <a:ext cx="475488" cy="475488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redefined Process 38"/>
          <p:cNvSpPr/>
          <p:nvPr/>
        </p:nvSpPr>
        <p:spPr>
          <a:xfrm>
            <a:off x="9151543" y="5172760"/>
            <a:ext cx="261518" cy="188293"/>
          </a:xfrm>
          <a:prstGeom prst="flowChartPredefinedProcess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7091" y="5577840"/>
            <a:ext cx="109042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curl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519028" y="4901183"/>
            <a:ext cx="0" cy="146305"/>
          </a:xfrm>
          <a:prstGeom prst="line">
            <a:avLst/>
          </a:prstGeom>
          <a:ln w="20320">
            <a:solidFill>
              <a:srgbClr val="1C151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281284" y="5065776"/>
            <a:ext cx="475488" cy="475488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redefined Process 42"/>
          <p:cNvSpPr/>
          <p:nvPr/>
        </p:nvSpPr>
        <p:spPr>
          <a:xfrm>
            <a:off x="10388269" y="5172760"/>
            <a:ext cx="261518" cy="188293"/>
          </a:xfrm>
          <a:prstGeom prst="flowChartPredefinedProcess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73817" y="5577840"/>
            <a:ext cx="109042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htop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WHAT DOES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Modules &amp; Plugins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Module is a unit of work — install a package, copy a file, restart a service.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Plugin changes how Ansible itself behaves — how it connects, looks up data, or filters values.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Different jobs: Modules act on the servers. Plugins act on Ansible.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7012" y="3479291"/>
            <a:ext cx="1133856" cy="113385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9 17"/>
          <p:cNvSpPr/>
          <p:nvPr/>
        </p:nvSpPr>
        <p:spPr>
          <a:xfrm>
            <a:off x="8323783" y="3706063"/>
            <a:ext cx="680313" cy="680313"/>
          </a:xfrm>
          <a:prstGeom prst="gear9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0979" y="466801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517"/>
                </a:solidFill>
                <a:latin typeface="Cambria"/>
              </a:rPr>
              <a:t>Ansible Engine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926179" y="3222284"/>
            <a:ext cx="314687" cy="449419"/>
          </a:xfrm>
          <a:prstGeom prst="line">
            <a:avLst/>
          </a:prstGeom>
          <a:ln w="1778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48424" y="2459341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1576" y="2459341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10012"/>
                </a:solidFill>
                <a:latin typeface="Courier New"/>
              </a:rPr>
              <a:t>package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21140" y="4046219"/>
            <a:ext cx="548640" cy="0"/>
          </a:xfrm>
          <a:prstGeom prst="line">
            <a:avLst/>
          </a:prstGeom>
          <a:ln w="1778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69780" y="3845051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2932" y="3845051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10012"/>
                </a:solidFill>
                <a:latin typeface="Courier New"/>
              </a:rPr>
              <a:t>copy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6179" y="4420736"/>
            <a:ext cx="314687" cy="449419"/>
          </a:xfrm>
          <a:prstGeom prst="line">
            <a:avLst/>
          </a:prstGeom>
          <a:ln w="1778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48424" y="5230762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1576" y="5230762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10012"/>
                </a:solidFill>
                <a:latin typeface="Courier New"/>
              </a:rPr>
              <a:t>service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087013" y="4420736"/>
            <a:ext cx="314687" cy="449419"/>
          </a:xfrm>
          <a:prstGeom prst="line">
            <a:avLst/>
          </a:prstGeom>
          <a:ln w="17780">
            <a:solidFill>
              <a:srgbClr val="2E6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007855" y="5230762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1007" y="5230762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66"/>
                </a:solidFill>
                <a:latin typeface="Courier New"/>
              </a:rPr>
              <a:t>connection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658100" y="4046219"/>
            <a:ext cx="548640" cy="0"/>
          </a:xfrm>
          <a:prstGeom prst="line">
            <a:avLst/>
          </a:prstGeom>
          <a:ln w="17780">
            <a:solidFill>
              <a:srgbClr val="2E6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86500" y="3845051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9652" y="3845051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66"/>
                </a:solidFill>
                <a:latin typeface="Courier New"/>
              </a:rPr>
              <a:t>lookup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8087013" y="3222284"/>
            <a:ext cx="314687" cy="449419"/>
          </a:xfrm>
          <a:prstGeom prst="line">
            <a:avLst/>
          </a:prstGeom>
          <a:ln w="17780">
            <a:solidFill>
              <a:srgbClr val="2E6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07855" y="2459341"/>
            <a:ext cx="1371600" cy="402336"/>
          </a:xfrm>
          <a:prstGeom prst="roundRect">
            <a:avLst>
              <a:gd name="adj" fmla="val 16000"/>
            </a:avLst>
          </a:prstGeom>
          <a:solidFill>
            <a:srgbClr val="FAF8F8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1007" y="2459341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66"/>
                </a:solidFill>
                <a:latin typeface="Courier New"/>
              </a:rPr>
              <a:t>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59" y="5724144"/>
            <a:ext cx="25831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0012"/>
                </a:solidFill>
                <a:latin typeface="Courier New"/>
              </a:rPr>
              <a:t>MODULES → do the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3940" y="5724144"/>
            <a:ext cx="25831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B66"/>
                </a:solidFill>
                <a:latin typeface="Courier New"/>
              </a:rPr>
              <a:t>PLUGINS → change Ansible itself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STAYING ORGANIZED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Roles &amp; Handlers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Handler only runs when something actually changed — restart nginx only after its config file changed.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Role packages a whole setup — tasks, templates, variables, handlers — into one reusable folder.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Write it once as a Role, and reuse it on every project from here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79" y="2148839"/>
            <a:ext cx="2628900" cy="3611879"/>
          </a:xfrm>
          <a:prstGeom prst="roundRect">
            <a:avLst>
              <a:gd name="adj" fmla="val 6000"/>
            </a:avLst>
          </a:prstGeom>
          <a:solidFill>
            <a:srgbClr val="FAF8F8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276856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10012"/>
                </a:solidFill>
                <a:latin typeface="Courier New"/>
              </a:rPr>
              <a:t>web_role/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51759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├─ tasks/main.yml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962655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├─ templates/nginx.j2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273551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├─ vars/main.yml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584447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├─ defaults/main.yml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895343"/>
            <a:ext cx="22631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└─ handlers/main.yml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2540" y="3304641"/>
            <a:ext cx="2400300" cy="384048"/>
          </a:xfrm>
          <a:prstGeom prst="roundRect">
            <a:avLst>
              <a:gd name="adj" fmla="val 16000"/>
            </a:avLst>
          </a:prstGeom>
          <a:solidFill>
            <a:srgbClr val="E3F0E9"/>
          </a:solidFill>
          <a:ln w="1397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5692" y="3304641"/>
            <a:ext cx="225399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6B66"/>
                </a:solidFill>
                <a:latin typeface="Courier New"/>
              </a:rPr>
              <a:t>notify: restart nginx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92690" y="3716121"/>
            <a:ext cx="0" cy="283464"/>
          </a:xfrm>
          <a:prstGeom prst="line">
            <a:avLst/>
          </a:prstGeom>
          <a:ln w="20320">
            <a:solidFill>
              <a:srgbClr val="2E6B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965692" y="4036161"/>
            <a:ext cx="438912" cy="438912"/>
          </a:xfrm>
          <a:prstGeom prst="ellipse">
            <a:avLst/>
          </a:prstGeom>
          <a:solidFill>
            <a:srgbClr val="2E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28236" y="4180563"/>
            <a:ext cx="208483" cy="92171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0906" y="4209531"/>
            <a:ext cx="208483" cy="92171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33575" y="4238500"/>
            <a:ext cx="208483" cy="92171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9467" y="4091025"/>
            <a:ext cx="17602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1517"/>
                </a:solidFill>
                <a:latin typeface="Courier New"/>
              </a:rPr>
              <a:t>handler: restart nginx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01100" y="3954779"/>
            <a:ext cx="45719" cy="0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PACKAGING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Collections — Bundles Of Everything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A Collection bundles Roles, Modules, and Plugins into one installable package.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Install one with a single command — no more copy-pasting the same folder between projects.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community.general and amazon.aws are two real collections you'll run into fast.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39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FAF8F8"/>
          </a:solidFill>
          <a:ln w="17780">
            <a:solidFill>
              <a:srgbClr val="D1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2512" y="2313432"/>
            <a:ext cx="585216" cy="58521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ube 18"/>
          <p:cNvSpPr/>
          <p:nvPr/>
        </p:nvSpPr>
        <p:spPr>
          <a:xfrm>
            <a:off x="6506870" y="2437790"/>
            <a:ext cx="336499" cy="336499"/>
          </a:xfrm>
          <a:prstGeom prst="cub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2386583"/>
            <a:ext cx="3886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ourier New"/>
              </a:rPr>
              <a:t>community.webstack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017520"/>
            <a:ext cx="434340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017520"/>
            <a:ext cx="419709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roles / web_role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474720"/>
            <a:ext cx="434340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474720"/>
            <a:ext cx="419709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modules / custom_module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31920"/>
            <a:ext cx="434340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931920"/>
            <a:ext cx="419709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plugins / custom_filter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389120"/>
            <a:ext cx="4343400" cy="384048"/>
          </a:xfrm>
          <a:prstGeom prst="roundRect">
            <a:avLst>
              <a:gd name="adj" fmla="val 16000"/>
            </a:avLst>
          </a:prstGeom>
          <a:solidFill>
            <a:srgbClr val="F3EEEE"/>
          </a:solidFill>
          <a:ln w="1397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389120"/>
            <a:ext cx="4197096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517"/>
                </a:solidFill>
                <a:latin typeface="Courier New"/>
              </a:rPr>
              <a:t>playbooks / 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440679"/>
            <a:ext cx="49834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10012"/>
                </a:solidFill>
                <a:latin typeface="Courier New"/>
              </a:rPr>
              <a:t>ansible-galaxy collection install community.webstack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DYNAMIC CONFIG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1F1"/>
                </a:solidFill>
                <a:latin typeface="Cambria"/>
              </a:rPr>
              <a:t>Templating With Jinja2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65960"/>
            <a:ext cx="5029200" cy="4023360"/>
          </a:xfrm>
          <a:prstGeom prst="roundRect">
            <a:avLst>
              <a:gd name="adj" fmla="val 5000"/>
            </a:avLst>
          </a:prstGeom>
          <a:solidFill>
            <a:srgbClr val="272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671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AEB0"/>
                </a:solidFill>
                <a:latin typeface="Courier New"/>
              </a:rPr>
              <a:t>nginx.conf.j2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448056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5F1F1"/>
                </a:solidFill>
                <a:latin typeface="Courier New"/>
              </a:rPr>
              <a:t>listen {{ port }};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5F1F1"/>
                </a:solidFill>
                <a:latin typeface="Courier New"/>
              </a:rPr>
              <a:t>server_name {{ domain }};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50" b="0" i="0">
                <a:solidFill>
                  <a:srgbClr val="D10012"/>
                </a:solidFill>
                <a:latin typeface="Courier New"/>
              </a:rPr>
              <a:t>proxy_pass http://{{ ip }};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9AEB0"/>
                </a:solidFill>
                <a:latin typeface="Courier New"/>
              </a:rPr>
              <a:t># vars for this host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AEB0"/>
                </a:solidFill>
                <a:latin typeface="Courier New"/>
              </a:rPr>
              <a:t>port: 8080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AEB0"/>
                </a:solidFill>
                <a:latin typeface="Courier New"/>
              </a:rPr>
              <a:t>domain: app.local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AEB0"/>
                </a:solidFill>
                <a:latin typeface="Courier New"/>
              </a:rPr>
              <a:t>ip: 10.0.0.11</a:t>
            </a:r>
          </a:p>
        </p:txBody>
      </p:sp>
      <p:sp>
        <p:nvSpPr>
          <p:cNvPr id="13" name="Oval 12"/>
          <p:cNvSpPr/>
          <p:nvPr/>
        </p:nvSpPr>
        <p:spPr>
          <a:xfrm>
            <a:off x="6080760" y="3520439"/>
            <a:ext cx="914400" cy="91440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ear 9 13"/>
          <p:cNvSpPr/>
          <p:nvPr/>
        </p:nvSpPr>
        <p:spPr>
          <a:xfrm>
            <a:off x="6263640" y="3703320"/>
            <a:ext cx="548640" cy="548640"/>
          </a:xfrm>
          <a:prstGeom prst="gear9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897879" y="3977639"/>
            <a:ext cx="137161" cy="0"/>
          </a:xfrm>
          <a:prstGeom prst="line">
            <a:avLst/>
          </a:prstGeom>
          <a:ln w="20320">
            <a:solidFill>
              <a:srgbClr val="B9AE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3977639"/>
            <a:ext cx="182880" cy="0"/>
          </a:xfrm>
          <a:prstGeom prst="line">
            <a:avLst/>
          </a:prstGeom>
          <a:ln w="20320">
            <a:solidFill>
              <a:srgbClr val="B9AE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97880" y="4480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EB0"/>
                </a:solidFill>
                <a:latin typeface="Courier New"/>
              </a:rPr>
              <a:t>Jinja2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965960"/>
            <a:ext cx="4114800" cy="4023360"/>
          </a:xfrm>
          <a:prstGeom prst="roundRect">
            <a:avLst>
              <a:gd name="adj" fmla="val 5000"/>
            </a:avLst>
          </a:prstGeom>
          <a:solidFill>
            <a:srgbClr val="142421"/>
          </a:solidFill>
          <a:ln w="16510">
            <a:solidFill>
              <a:srgbClr val="2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1671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B66"/>
                </a:solidFill>
                <a:latin typeface="Courier New"/>
              </a:rPr>
              <a:t>nginx.conf  (rendered)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60320"/>
            <a:ext cx="356616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5F1F1"/>
                </a:solidFill>
                <a:latin typeface="Courier New"/>
              </a:rPr>
              <a:t>listen 8080;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F5F1F1"/>
                </a:solidFill>
                <a:latin typeface="Courier New"/>
              </a:rPr>
              <a:t>server_name app.local;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6B66"/>
                </a:solidFill>
                <a:latin typeface="Courier New"/>
              </a:rPr>
              <a:t>proxy_pass http://10.0.0.11;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17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B9AEB0"/>
                </a:solidFill>
                <a:latin typeface="Calibri"/>
              </a:rPr>
              <a:t>One template file, rendered differently for every server — real values in, real config 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B9AEB0"/>
                </a:solidFill>
                <a:latin typeface="Courier New"/>
              </a:rPr>
              <a:t>ANSIBLE // DEEP DIVE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AEB0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PRACTICE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Building Your Lab, Safely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03120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Practice on a local virtual machine first — never on a real server you can't afford to break.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99232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07792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Most beginner problems come down to three things: SSH access, permissions, or a typo in the inventory.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445312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1517"/>
                </a:solidFill>
                <a:latin typeface="Calibri"/>
              </a:rPr>
              <a:t>Fix the connection first. Everything else gets easier once Ansible can actually reach the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874519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92340" y="2537459"/>
            <a:ext cx="2743200" cy="2743200"/>
          </a:xfrm>
          <a:prstGeom prst="ellipse">
            <a:avLst/>
          </a:prstGeom>
          <a:noFill/>
          <a:ln w="15240">
            <a:solidFill>
              <a:srgbClr val="E4D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8179" y="2171699"/>
            <a:ext cx="731520" cy="73152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3628" y="2382011"/>
            <a:ext cx="420623" cy="310896"/>
          </a:xfrm>
          <a:prstGeom prst="roundRect">
            <a:avLst>
              <a:gd name="adj" fmla="val 12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5690" y="2425537"/>
            <a:ext cx="25237" cy="25237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1959" y="2425537"/>
            <a:ext cx="25237" cy="25237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88227" y="2425537"/>
            <a:ext cx="25237" cy="25237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520927" y="2574767"/>
            <a:ext cx="75713" cy="49743"/>
          </a:xfrm>
          <a:prstGeom prst="line">
            <a:avLst/>
          </a:prstGeom>
          <a:ln w="22225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520927" y="2574767"/>
            <a:ext cx="75713" cy="49743"/>
          </a:xfrm>
          <a:prstGeom prst="line">
            <a:avLst/>
          </a:prstGeom>
          <a:ln w="22225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21877" y="2630728"/>
            <a:ext cx="75712" cy="0"/>
          </a:xfrm>
          <a:prstGeom prst="line">
            <a:avLst/>
          </a:prstGeom>
          <a:ln w="22225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86700" y="197053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517"/>
                </a:solidFill>
                <a:latin typeface="Cambria"/>
              </a:rPr>
              <a:t>Build VM</a:t>
            </a:r>
          </a:p>
        </p:txBody>
      </p:sp>
      <p:sp>
        <p:nvSpPr>
          <p:cNvPr id="27" name="Oval 26"/>
          <p:cNvSpPr/>
          <p:nvPr/>
        </p:nvSpPr>
        <p:spPr>
          <a:xfrm>
            <a:off x="9669780" y="3543299"/>
            <a:ext cx="731520" cy="73152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ear 9 27"/>
          <p:cNvSpPr/>
          <p:nvPr/>
        </p:nvSpPr>
        <p:spPr>
          <a:xfrm>
            <a:off x="9816084" y="3689603"/>
            <a:ext cx="438912" cy="438912"/>
          </a:xfrm>
          <a:prstGeom prst="gear9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8300" y="43662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517"/>
                </a:solidFill>
                <a:latin typeface="Cambria"/>
              </a:rPr>
              <a:t>Install Ansible</a:t>
            </a:r>
          </a:p>
        </p:txBody>
      </p:sp>
      <p:sp>
        <p:nvSpPr>
          <p:cNvPr id="30" name="Oval 29"/>
          <p:cNvSpPr/>
          <p:nvPr/>
        </p:nvSpPr>
        <p:spPr>
          <a:xfrm>
            <a:off x="8298179" y="4914899"/>
            <a:ext cx="731520" cy="73152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510320" y="5287975"/>
            <a:ext cx="124359" cy="131673"/>
          </a:xfrm>
          <a:prstGeom prst="line">
            <a:avLst/>
          </a:prstGeom>
          <a:ln w="53340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634679" y="5163616"/>
            <a:ext cx="204825" cy="256032"/>
          </a:xfrm>
          <a:prstGeom prst="line">
            <a:avLst/>
          </a:prstGeom>
          <a:ln w="53340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86700" y="57378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517"/>
                </a:solidFill>
                <a:latin typeface="Cambria"/>
              </a:rPr>
              <a:t>Run The Lab</a:t>
            </a:r>
          </a:p>
        </p:txBody>
      </p:sp>
      <p:sp>
        <p:nvSpPr>
          <p:cNvPr id="34" name="Oval 33"/>
          <p:cNvSpPr/>
          <p:nvPr/>
        </p:nvSpPr>
        <p:spPr>
          <a:xfrm>
            <a:off x="6926579" y="3543299"/>
            <a:ext cx="731520" cy="731520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7072883" y="3718864"/>
            <a:ext cx="438912" cy="386242"/>
          </a:xfrm>
          <a:prstGeom prst="triangl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74052" y="3901744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75880" y="3792016"/>
            <a:ext cx="32918" cy="87782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5100" y="43662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1517"/>
                </a:solidFill>
                <a:latin typeface="Cambria"/>
              </a:rPr>
              <a:t>Troubleshoot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63940" y="2537459"/>
            <a:ext cx="969867" cy="401733"/>
          </a:xfrm>
          <a:prstGeom prst="line">
            <a:avLst/>
          </a:prstGeom>
          <a:ln w="16510">
            <a:solidFill>
              <a:srgbClr val="5A52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33807" y="2939192"/>
            <a:ext cx="401733" cy="969867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633807" y="3909059"/>
            <a:ext cx="401733" cy="969868"/>
          </a:xfrm>
          <a:prstGeom prst="line">
            <a:avLst/>
          </a:prstGeom>
          <a:ln w="16510">
            <a:solidFill>
              <a:srgbClr val="5A52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663940" y="4878927"/>
            <a:ext cx="969867" cy="401732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7694072" y="4878927"/>
            <a:ext cx="969868" cy="401732"/>
          </a:xfrm>
          <a:prstGeom prst="line">
            <a:avLst/>
          </a:prstGeom>
          <a:ln w="16510">
            <a:solidFill>
              <a:srgbClr val="5A52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7292340" y="3909059"/>
            <a:ext cx="401732" cy="969868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292340" y="2939192"/>
            <a:ext cx="401732" cy="969867"/>
          </a:xfrm>
          <a:prstGeom prst="line">
            <a:avLst/>
          </a:prstGeom>
          <a:ln w="16510">
            <a:solidFill>
              <a:srgbClr val="5A52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94072" y="2537459"/>
            <a:ext cx="969868" cy="401733"/>
          </a:xfrm>
          <a:prstGeom prst="line">
            <a:avLst/>
          </a:prstGeom>
          <a:ln w="16510">
            <a:solidFill>
              <a:srgbClr val="5A52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58100" y="3762755"/>
            <a:ext cx="20116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5254"/>
                </a:solidFill>
                <a:latin typeface="Courier New"/>
              </a:rPr>
              <a:t>practice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8484" y="69220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04088" y="664905"/>
            <a:ext cx="63042" cy="52898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8842" y="6466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26755" y="689657"/>
            <a:ext cx="77333" cy="28146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8467" y="67136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THE FULL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517"/>
                </a:solidFill>
                <a:latin typeface="Cambria"/>
              </a:rPr>
              <a:t>Everything You've 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0779" y="211226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lded Corner 11"/>
          <p:cNvSpPr/>
          <p:nvPr/>
        </p:nvSpPr>
        <p:spPr>
          <a:xfrm>
            <a:off x="1828662" y="2249058"/>
            <a:ext cx="286024" cy="348203"/>
          </a:xfrm>
          <a:prstGeom prst="foldedCorner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5867" y="2367447"/>
            <a:ext cx="171614" cy="24374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5867" y="2433606"/>
            <a:ext cx="171614" cy="24374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85867" y="2499764"/>
            <a:ext cx="171614" cy="24374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39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Config &amp; 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7296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How Ansible reads its own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0430" y="196596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5409" y="211226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86401" y="2244394"/>
            <a:ext cx="279806" cy="357530"/>
          </a:xfrm>
          <a:prstGeom prst="roundRect">
            <a:avLst>
              <a:gd name="adj" fmla="val 14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75939" y="2222942"/>
            <a:ext cx="100730" cy="42903"/>
          </a:xfrm>
          <a:prstGeom prst="roundRect">
            <a:avLst>
              <a:gd name="adj" fmla="val 30000"/>
            </a:avLst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31170" y="2358804"/>
            <a:ext cx="30778" cy="30778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87132" y="2364400"/>
            <a:ext cx="125912" cy="19586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31170" y="2430310"/>
            <a:ext cx="30778" cy="30778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7132" y="2435906"/>
            <a:ext cx="125912" cy="19586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31170" y="2501816"/>
            <a:ext cx="30778" cy="30778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87132" y="2507412"/>
            <a:ext cx="125912" cy="19586"/>
          </a:xfrm>
          <a:prstGeom prst="rect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7590" y="2834639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7590" y="317296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Who Ansible manages.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060" y="196596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0039" y="211226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7409" y="2379634"/>
            <a:ext cx="87050" cy="87050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480935" y="2230404"/>
            <a:ext cx="0" cy="192756"/>
          </a:xfrm>
          <a:prstGeom prst="line">
            <a:avLst/>
          </a:prstGeom>
          <a:ln w="22225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452954" y="2202423"/>
            <a:ext cx="55961" cy="55961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480935" y="2423160"/>
            <a:ext cx="166931" cy="96377"/>
          </a:xfrm>
          <a:prstGeom prst="line">
            <a:avLst/>
          </a:prstGeom>
          <a:ln w="22225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619885" y="2491557"/>
            <a:ext cx="55961" cy="55961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>
            <a:off x="7314003" y="2423160"/>
            <a:ext cx="166932" cy="96377"/>
          </a:xfrm>
          <a:prstGeom prst="line">
            <a:avLst/>
          </a:prstGeom>
          <a:ln w="22225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286023" y="2491557"/>
            <a:ext cx="55961" cy="55961"/>
          </a:xfrm>
          <a:prstGeom prst="ellips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2220" y="2834639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Variables &amp; Facts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2220" y="317296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Where values come from.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49690" y="196596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24669" y="211226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redefined Process 42"/>
          <p:cNvSpPr/>
          <p:nvPr/>
        </p:nvSpPr>
        <p:spPr>
          <a:xfrm>
            <a:off x="10064572" y="2252167"/>
            <a:ext cx="341985" cy="246229"/>
          </a:xfrm>
          <a:prstGeom prst="flowChartPredefinedProcess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86850" y="2834639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Playbooks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6850" y="317296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The steps, in order.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88620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60779" y="403250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75297" y="4284329"/>
            <a:ext cx="192755" cy="192755"/>
          </a:xfrm>
          <a:prstGeom prst="roundRect">
            <a:avLst>
              <a:gd name="adj" fmla="val 35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14159" y="4181734"/>
            <a:ext cx="27980" cy="105704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01210" y="4181734"/>
            <a:ext cx="27980" cy="105704"/>
          </a:xfrm>
          <a:prstGeom prst="rect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971675" y="4424357"/>
            <a:ext cx="0" cy="111798"/>
          </a:xfrm>
          <a:prstGeom prst="line">
            <a:avLst/>
          </a:prstGeom>
          <a:ln w="27940">
            <a:solidFill>
              <a:srgbClr val="FAF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2960" y="4754880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Modules &amp; Plugins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09320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What does the work.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0430" y="388620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15409" y="403250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04014" y="4237073"/>
            <a:ext cx="295351" cy="130576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78629" y="4278111"/>
            <a:ext cx="295351" cy="130576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653244" y="4319150"/>
            <a:ext cx="295351" cy="130576"/>
          </a:xfrm>
          <a:prstGeom prst="roundRect">
            <a:avLst>
              <a:gd name="adj" fmla="val 30000"/>
            </a:avLst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77590" y="4754880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Roles &amp; Handlers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77590" y="509320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Staying organized.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5060" y="388620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170039" y="403250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ube 62"/>
          <p:cNvSpPr/>
          <p:nvPr/>
        </p:nvSpPr>
        <p:spPr>
          <a:xfrm>
            <a:off x="7302169" y="4164634"/>
            <a:ext cx="357530" cy="357530"/>
          </a:xfrm>
          <a:prstGeom prst="cube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32220" y="4754880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Collections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2220" y="509320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Packaging at scale.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49690" y="3886200"/>
            <a:ext cx="2571750" cy="1737360"/>
          </a:xfrm>
          <a:prstGeom prst="roundRect">
            <a:avLst>
              <a:gd name="adj" fmla="val 6000"/>
            </a:avLst>
          </a:prstGeom>
          <a:solidFill>
            <a:srgbClr val="F3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924669" y="4032504"/>
            <a:ext cx="621792" cy="621792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ear 9 67"/>
          <p:cNvSpPr/>
          <p:nvPr/>
        </p:nvSpPr>
        <p:spPr>
          <a:xfrm>
            <a:off x="10049027" y="4156862"/>
            <a:ext cx="373075" cy="373075"/>
          </a:xfrm>
          <a:prstGeom prst="gear9">
            <a:avLst/>
          </a:prstGeom>
          <a:solidFill>
            <a:srgbClr val="FA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86850" y="4754880"/>
            <a:ext cx="229743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517"/>
                </a:solidFill>
                <a:latin typeface="Cambria"/>
              </a:rPr>
              <a:t>Templates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86850" y="5093208"/>
            <a:ext cx="229743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5254"/>
                </a:solidFill>
                <a:latin typeface="Calibri"/>
              </a:rPr>
              <a:t>Config that adapts itself.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5A5254"/>
                </a:solidFill>
                <a:latin typeface="Courier New"/>
              </a:rPr>
              <a:t>ANSIBLE // DEEP DIVE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254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5644" y="829360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41248" y="802065"/>
            <a:ext cx="63042" cy="52899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86002" y="78377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763915" y="826817"/>
            <a:ext cx="77333" cy="2814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45627" y="808529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D10012"/>
                </a:solidFill>
                <a:latin typeface="Courier New"/>
              </a:rPr>
              <a:t>READY FOR THE REAL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1F1"/>
                </a:solidFill>
                <a:latin typeface="Cambria"/>
              </a:rPr>
              <a:t>You know the pieces.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D10012"/>
                </a:solidFill>
                <a:latin typeface="Cambria"/>
              </a:rPr>
              <a:t>Now go assemble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CONFIG</a:t>
            </a:r>
          </a:p>
        </p:txBody>
      </p:sp>
      <p:sp>
        <p:nvSpPr>
          <p:cNvPr id="11" name="Oval 10"/>
          <p:cNvSpPr/>
          <p:nvPr/>
        </p:nvSpPr>
        <p:spPr>
          <a:xfrm>
            <a:off x="1803196" y="4500676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828800" y="4467503"/>
            <a:ext cx="70047" cy="5877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80559" y="4449215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742874" y="4495005"/>
            <a:ext cx="85926" cy="31275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24586" y="44767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INVENTORY</a:t>
            </a:r>
          </a:p>
        </p:txBody>
      </p:sp>
      <p:sp>
        <p:nvSpPr>
          <p:cNvPr id="17" name="Oval 16"/>
          <p:cNvSpPr/>
          <p:nvPr/>
        </p:nvSpPr>
        <p:spPr>
          <a:xfrm>
            <a:off x="3540556" y="4500676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3566160" y="4467503"/>
            <a:ext cx="70047" cy="5877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617919" y="4449215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3480234" y="4495005"/>
            <a:ext cx="85926" cy="31275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61946" y="44767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VARIABLES</a:t>
            </a:r>
          </a:p>
        </p:txBody>
      </p:sp>
      <p:sp>
        <p:nvSpPr>
          <p:cNvPr id="23" name="Oval 22"/>
          <p:cNvSpPr/>
          <p:nvPr/>
        </p:nvSpPr>
        <p:spPr>
          <a:xfrm>
            <a:off x="5277916" y="4500676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5303520" y="4467503"/>
            <a:ext cx="70047" cy="5877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355279" y="4449215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5217594" y="4495005"/>
            <a:ext cx="85926" cy="31275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199306" y="44767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PLAYBOOKS</a:t>
            </a:r>
          </a:p>
        </p:txBody>
      </p:sp>
      <p:sp>
        <p:nvSpPr>
          <p:cNvPr id="29" name="Oval 28"/>
          <p:cNvSpPr/>
          <p:nvPr/>
        </p:nvSpPr>
        <p:spPr>
          <a:xfrm>
            <a:off x="7015276" y="4500676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7040880" y="4467503"/>
            <a:ext cx="70047" cy="5877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092639" y="4449215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6954954" y="4495005"/>
            <a:ext cx="85926" cy="31275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936666" y="44767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ROLES</a:t>
            </a:r>
          </a:p>
        </p:txBody>
      </p:sp>
      <p:sp>
        <p:nvSpPr>
          <p:cNvPr id="35" name="Oval 34"/>
          <p:cNvSpPr/>
          <p:nvPr/>
        </p:nvSpPr>
        <p:spPr>
          <a:xfrm>
            <a:off x="8386876" y="4500676"/>
            <a:ext cx="51206" cy="5120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8412480" y="4467503"/>
            <a:ext cx="70047" cy="58777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464239" y="4449215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326554" y="4495005"/>
            <a:ext cx="85926" cy="31275"/>
          </a:xfrm>
          <a:prstGeom prst="line">
            <a:avLst/>
          </a:prstGeom>
          <a:ln w="12700">
            <a:solidFill>
              <a:srgbClr val="D100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308266" y="4476717"/>
            <a:ext cx="36576" cy="36576"/>
          </a:xfrm>
          <a:prstGeom prst="ellipse">
            <a:avLst/>
          </a:prstGeom>
          <a:solidFill>
            <a:srgbClr val="D1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0">
                <a:solidFill>
                  <a:srgbClr val="B9AEB0"/>
                </a:solidFill>
                <a:latin typeface="Courier New"/>
              </a:rPr>
              <a:t>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F5F1F1"/>
                </a:solidFill>
                <a:latin typeface="Cambria"/>
              </a:rPr>
              <a:t>Thank you.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30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AEB0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