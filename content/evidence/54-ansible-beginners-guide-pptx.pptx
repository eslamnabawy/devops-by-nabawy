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a9E2j4++0IdSNhixdw6DF5hFg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132320" y="1188720"/>
            <a:ext cx="4663440" cy="4663440"/>
          </a:xfrm>
          <a:prstGeom prst="ellipse">
            <a:avLst/>
          </a:prstGeom>
          <a:noFill/>
          <a:ln cap="flat" cmpd="sng" w="19050">
            <a:solidFill>
              <a:srgbClr val="351C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9317736" y="3374136"/>
            <a:ext cx="292608" cy="292608"/>
          </a:xfrm>
          <a:prstGeom prst="ellipse">
            <a:avLst/>
          </a:prstGeom>
          <a:solidFill>
            <a:srgbClr val="351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"/>
          <p:cNvCxnSpPr/>
          <p:nvPr/>
        </p:nvCxnSpPr>
        <p:spPr>
          <a:xfrm rot="10800000">
            <a:off x="9106776" y="1494296"/>
            <a:ext cx="357264" cy="2026144"/>
          </a:xfrm>
          <a:prstGeom prst="straightConnector1">
            <a:avLst/>
          </a:prstGeom>
          <a:noFill/>
          <a:ln cap="flat" cmpd="sng" w="15875">
            <a:solidFill>
              <a:srgbClr val="351C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"/>
          <p:cNvSpPr/>
          <p:nvPr/>
        </p:nvSpPr>
        <p:spPr>
          <a:xfrm>
            <a:off x="9006192" y="1393712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"/>
          <p:cNvCxnSpPr/>
          <p:nvPr/>
        </p:nvCxnSpPr>
        <p:spPr>
          <a:xfrm flipH="1" rot="10800000">
            <a:off x="9464040" y="2816767"/>
            <a:ext cx="1933323" cy="703673"/>
          </a:xfrm>
          <a:prstGeom prst="straightConnector1">
            <a:avLst/>
          </a:prstGeom>
          <a:noFill/>
          <a:ln cap="flat" cmpd="sng" w="15875">
            <a:solidFill>
              <a:srgbClr val="351C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"/>
          <p:cNvSpPr/>
          <p:nvPr/>
        </p:nvSpPr>
        <p:spPr>
          <a:xfrm>
            <a:off x="11296779" y="2716183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9464040" y="3520440"/>
            <a:ext cx="1180076" cy="1685323"/>
          </a:xfrm>
          <a:prstGeom prst="straightConnector1">
            <a:avLst/>
          </a:prstGeom>
          <a:noFill/>
          <a:ln cap="flat" cmpd="sng" w="15875">
            <a:solidFill>
              <a:srgbClr val="351C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"/>
          <p:cNvSpPr/>
          <p:nvPr/>
        </p:nvSpPr>
        <p:spPr>
          <a:xfrm>
            <a:off x="10543532" y="5105179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"/>
          <p:cNvCxnSpPr/>
          <p:nvPr/>
        </p:nvCxnSpPr>
        <p:spPr>
          <a:xfrm flipH="1">
            <a:off x="8141568" y="3520440"/>
            <a:ext cx="1322472" cy="1576059"/>
          </a:xfrm>
          <a:prstGeom prst="straightConnector1">
            <a:avLst/>
          </a:prstGeom>
          <a:noFill/>
          <a:ln cap="flat" cmpd="sng" w="15875">
            <a:solidFill>
              <a:srgbClr val="351C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"/>
          <p:cNvSpPr/>
          <p:nvPr/>
        </p:nvSpPr>
        <p:spPr>
          <a:xfrm>
            <a:off x="8040984" y="4995915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"/>
          <p:cNvCxnSpPr/>
          <p:nvPr/>
        </p:nvCxnSpPr>
        <p:spPr>
          <a:xfrm rot="10800000">
            <a:off x="7599402" y="2650945"/>
            <a:ext cx="1864638" cy="869495"/>
          </a:xfrm>
          <a:prstGeom prst="straightConnector1">
            <a:avLst/>
          </a:prstGeom>
          <a:noFill/>
          <a:ln cap="flat" cmpd="sng" w="15875">
            <a:solidFill>
              <a:srgbClr val="351C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"/>
          <p:cNvSpPr/>
          <p:nvPr/>
        </p:nvSpPr>
        <p:spPr>
          <a:xfrm>
            <a:off x="7498818" y="2550361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"/>
          <p:cNvCxnSpPr/>
          <p:nvPr/>
        </p:nvCxnSpPr>
        <p:spPr>
          <a:xfrm flipH="1" rot="10800000">
            <a:off x="9464040" y="1494296"/>
            <a:ext cx="357263" cy="2026144"/>
          </a:xfrm>
          <a:prstGeom prst="straightConnector1">
            <a:avLst/>
          </a:prstGeom>
          <a:noFill/>
          <a:ln cap="flat" cmpd="sng" w="15875">
            <a:solidFill>
              <a:srgbClr val="351C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"/>
          <p:cNvSpPr/>
          <p:nvPr/>
        </p:nvSpPr>
        <p:spPr>
          <a:xfrm>
            <a:off x="9720719" y="1393712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815644" y="82936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 flipH="1" rot="10800000">
            <a:off x="841248" y="802065"/>
            <a:ext cx="63042" cy="52899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"/>
          <p:cNvSpPr/>
          <p:nvPr/>
        </p:nvSpPr>
        <p:spPr>
          <a:xfrm>
            <a:off x="886002" y="78377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"/>
          <p:cNvCxnSpPr/>
          <p:nvPr/>
        </p:nvCxnSpPr>
        <p:spPr>
          <a:xfrm rot="10800000">
            <a:off x="763915" y="826817"/>
            <a:ext cx="77333" cy="28147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"/>
          <p:cNvSpPr/>
          <p:nvPr/>
        </p:nvSpPr>
        <p:spPr>
          <a:xfrm>
            <a:off x="745627" y="80852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097280" y="777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IT AUTOMATION, MADE EASY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777240" y="2011680"/>
            <a:ext cx="8229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0" u="none" cap="none" strike="noStrike">
                <a:solidFill>
                  <a:srgbClr val="F5F1F1"/>
                </a:solidFill>
                <a:latin typeface="Cambria"/>
                <a:ea typeface="Cambria"/>
                <a:cs typeface="Cambria"/>
                <a:sym typeface="Cambria"/>
              </a:rPr>
              <a:t>ANSIBLE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822960" y="3977639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9AEB0"/>
                </a:solidFill>
                <a:latin typeface="Calibri"/>
                <a:ea typeface="Calibri"/>
                <a:cs typeface="Calibri"/>
                <a:sym typeface="Calibri"/>
              </a:rPr>
              <a:t>Automate your IT — the simple way.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822960" y="4617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A BEGINNER'S GUIDE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2"/>
          <p:cNvCxnSpPr/>
          <p:nvPr/>
        </p:nvCxnSpPr>
        <p:spPr>
          <a:xfrm flipH="1" rot="10800000">
            <a:off x="704088" y="664905"/>
            <a:ext cx="63042" cy="52898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2"/>
          <p:cNvCxnSpPr/>
          <p:nvPr/>
        </p:nvCxnSpPr>
        <p:spPr>
          <a:xfrm rot="10800000">
            <a:off x="626755" y="689657"/>
            <a:ext cx="77333" cy="28146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2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WHY AUTOMATE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685800" y="96012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Managing Servers By</a:t>
            </a:r>
            <a:b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Hand Doesn't Scale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713232" y="2798064"/>
            <a:ext cx="100584" cy="100584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005840" y="2697480"/>
            <a:ext cx="4919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Logging into each server, one by one, takes forever.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713232" y="3511296"/>
            <a:ext cx="100584" cy="100584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005840" y="3410712"/>
            <a:ext cx="4919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The same setup steps get typed again and again.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713232" y="4224528"/>
            <a:ext cx="100584" cy="100584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1005840" y="4123944"/>
            <a:ext cx="4919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One small typo can quietly break production.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713232" y="4937760"/>
            <a:ext cx="100584" cy="100584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1005840" y="4837176"/>
            <a:ext cx="4919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No record of what changed, or when.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7022592" y="1033272"/>
            <a:ext cx="768096" cy="768096"/>
          </a:xfrm>
          <a:prstGeom prst="ellipse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7205014" y="1298265"/>
            <a:ext cx="403250" cy="238109"/>
          </a:xfrm>
          <a:prstGeom prst="roundRect">
            <a:avLst>
              <a:gd fmla="val 18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253404" y="1364935"/>
            <a:ext cx="201625" cy="23810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7253404" y="1469704"/>
            <a:ext cx="201625" cy="23810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7519550" y="1350649"/>
            <a:ext cx="40325" cy="40325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9153144" y="740663"/>
            <a:ext cx="621792" cy="621792"/>
          </a:xfrm>
          <a:prstGeom prst="ellipse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9300819" y="955182"/>
            <a:ext cx="326440" cy="192755"/>
          </a:xfrm>
          <a:prstGeom prst="roundRect">
            <a:avLst>
              <a:gd fmla="val 18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9339992" y="1009153"/>
            <a:ext cx="163220" cy="19275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9339992" y="1093966"/>
            <a:ext cx="163220" cy="19275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9555443" y="997588"/>
            <a:ext cx="32644" cy="32644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10561319" y="2057400"/>
            <a:ext cx="548640" cy="548640"/>
          </a:xfrm>
          <a:prstGeom prst="ellipse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10691622" y="2246680"/>
            <a:ext cx="288036" cy="170078"/>
          </a:xfrm>
          <a:prstGeom prst="roundRect">
            <a:avLst>
              <a:gd fmla="val 18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10726186" y="2294302"/>
            <a:ext cx="144018" cy="17007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0726186" y="2369137"/>
            <a:ext cx="144018" cy="17007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10916290" y="2284098"/>
            <a:ext cx="28803" cy="28803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7470648" y="2715768"/>
            <a:ext cx="694944" cy="694944"/>
          </a:xfrm>
          <a:prstGeom prst="ellipse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7635697" y="2955523"/>
            <a:ext cx="364845" cy="215432"/>
          </a:xfrm>
          <a:prstGeom prst="roundRect">
            <a:avLst>
              <a:gd fmla="val 18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7679478" y="3015844"/>
            <a:ext cx="182422" cy="21543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7679478" y="3110635"/>
            <a:ext cx="182422" cy="21543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7920276" y="3002918"/>
            <a:ext cx="36484" cy="36484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9363455" y="3191256"/>
            <a:ext cx="841248" cy="841248"/>
          </a:xfrm>
          <a:prstGeom prst="ellipse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9563252" y="3481486"/>
            <a:ext cx="441655" cy="260786"/>
          </a:xfrm>
          <a:prstGeom prst="roundRect">
            <a:avLst>
              <a:gd fmla="val 18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9616251" y="3554506"/>
            <a:ext cx="220827" cy="26078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9616251" y="3669253"/>
            <a:ext cx="220827" cy="26078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9907743" y="3538859"/>
            <a:ext cx="44165" cy="44165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8074152" y="4690872"/>
            <a:ext cx="585216" cy="585216"/>
          </a:xfrm>
          <a:prstGeom prst="ellipse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8213140" y="4892771"/>
            <a:ext cx="307238" cy="181416"/>
          </a:xfrm>
          <a:prstGeom prst="roundRect">
            <a:avLst>
              <a:gd fmla="val 18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8250009" y="4943568"/>
            <a:ext cx="153619" cy="18141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8250009" y="5023391"/>
            <a:ext cx="153619" cy="18141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8452786" y="4932683"/>
            <a:ext cx="30723" cy="30723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10232136" y="4379976"/>
            <a:ext cx="658368" cy="658368"/>
          </a:xfrm>
          <a:prstGeom prst="ellipse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10388498" y="4607112"/>
            <a:ext cx="345643" cy="204094"/>
          </a:xfrm>
          <a:prstGeom prst="roundRect">
            <a:avLst>
              <a:gd fmla="val 18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10429975" y="4664259"/>
            <a:ext cx="172821" cy="20409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10429975" y="4754060"/>
            <a:ext cx="172821" cy="20409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10658100" y="4652013"/>
            <a:ext cx="34564" cy="34564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6903720" y="5623560"/>
            <a:ext cx="4617720" cy="621792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7178040" y="5623560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Ten servers, ten logins. A hundred servers…?</a:t>
            </a:r>
            <a:endParaRPr/>
          </a:p>
        </p:txBody>
      </p:sp>
      <p:sp>
        <p:nvSpPr>
          <p:cNvPr id="167" name="Google Shape;167;p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168" name="Google Shape;168;p2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3"/>
          <p:cNvCxnSpPr/>
          <p:nvPr/>
        </p:nvCxnSpPr>
        <p:spPr>
          <a:xfrm flipH="1" rot="10800000">
            <a:off x="704088" y="664905"/>
            <a:ext cx="63042" cy="52898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3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3"/>
          <p:cNvCxnSpPr/>
          <p:nvPr/>
        </p:nvCxnSpPr>
        <p:spPr>
          <a:xfrm rot="10800000">
            <a:off x="626755" y="689657"/>
            <a:ext cx="77333" cy="28146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3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THE BASICS</a:t>
            </a:r>
            <a:endParaRPr/>
          </a:p>
        </p:txBody>
      </p:sp>
      <p:sp>
        <p:nvSpPr>
          <p:cNvPr id="180" name="Google Shape;180;p3"/>
          <p:cNvSpPr txBox="1"/>
          <p:nvPr/>
        </p:nvSpPr>
        <p:spPr>
          <a:xfrm>
            <a:off x="685800" y="9601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What Is Ansible?</a:t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685800" y="1874519"/>
            <a:ext cx="10789920" cy="1600200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1143000" y="1874519"/>
            <a:ext cx="8503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An open-source tool that automates repetitive IT work —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rgbClr val="D10012"/>
                </a:solidFill>
                <a:latin typeface="Cambria"/>
                <a:ea typeface="Cambria"/>
                <a:cs typeface="Cambria"/>
                <a:sym typeface="Cambria"/>
              </a:rPr>
              <a:t>so your team doesn't have to.</a:t>
            </a: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9994392" y="2107691"/>
            <a:ext cx="1133856" cy="113385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10221163" y="2334463"/>
            <a:ext cx="680313" cy="680313"/>
          </a:xfrm>
          <a:custGeom>
            <a:rect b="b" l="l" r="r" t="t"/>
            <a:pathLst>
              <a:path extrusionOk="0" h="120000" w="120000">
                <a:moveTo>
                  <a:pt x="85177" y="19133"/>
                </a:moveTo>
                <a:lnTo>
                  <a:pt x="94511" y="11300"/>
                </a:lnTo>
                <a:lnTo>
                  <a:pt x="101967" y="17557"/>
                </a:lnTo>
                <a:lnTo>
                  <a:pt x="95875" y="28109"/>
                </a:lnTo>
                <a:cubicBezTo>
                  <a:pt x="100207" y="32983"/>
                  <a:pt x="103501" y="38688"/>
                  <a:pt x="105555" y="44877"/>
                </a:cubicBezTo>
                <a:lnTo>
                  <a:pt x="117740" y="44877"/>
                </a:lnTo>
                <a:lnTo>
                  <a:pt x="119431" y="54463"/>
                </a:lnTo>
                <a:lnTo>
                  <a:pt x="107980" y="58630"/>
                </a:lnTo>
                <a:cubicBezTo>
                  <a:pt x="108167" y="65148"/>
                  <a:pt x="107023" y="71636"/>
                  <a:pt x="104618" y="77697"/>
                </a:cubicBezTo>
                <a:lnTo>
                  <a:pt x="113953" y="85530"/>
                </a:lnTo>
                <a:lnTo>
                  <a:pt x="109086" y="93960"/>
                </a:lnTo>
                <a:lnTo>
                  <a:pt x="97636" y="89792"/>
                </a:lnTo>
                <a:cubicBezTo>
                  <a:pt x="93588" y="94905"/>
                  <a:pt x="88542" y="99139"/>
                  <a:pt x="82804" y="102237"/>
                </a:cubicBezTo>
                <a:lnTo>
                  <a:pt x="84920" y="114237"/>
                </a:lnTo>
                <a:lnTo>
                  <a:pt x="75773" y="117566"/>
                </a:lnTo>
                <a:lnTo>
                  <a:pt x="69681" y="107014"/>
                </a:lnTo>
                <a:cubicBezTo>
                  <a:pt x="63294" y="108329"/>
                  <a:pt x="56706" y="108329"/>
                  <a:pt x="50319" y="107014"/>
                </a:cubicBezTo>
                <a:lnTo>
                  <a:pt x="44227" y="117566"/>
                </a:lnTo>
                <a:lnTo>
                  <a:pt x="35080" y="114237"/>
                </a:lnTo>
                <a:lnTo>
                  <a:pt x="37196" y="102237"/>
                </a:lnTo>
                <a:cubicBezTo>
                  <a:pt x="31458" y="99139"/>
                  <a:pt x="26412" y="94905"/>
                  <a:pt x="22364" y="89792"/>
                </a:cubicBezTo>
                <a:lnTo>
                  <a:pt x="10914" y="93960"/>
                </a:lnTo>
                <a:lnTo>
                  <a:pt x="6047" y="85530"/>
                </a:lnTo>
                <a:lnTo>
                  <a:pt x="15382" y="77697"/>
                </a:lnTo>
                <a:cubicBezTo>
                  <a:pt x="12977" y="71636"/>
                  <a:pt x="11833" y="65148"/>
                  <a:pt x="12020" y="58630"/>
                </a:cubicBezTo>
                <a:lnTo>
                  <a:pt x="569" y="54463"/>
                </a:lnTo>
                <a:lnTo>
                  <a:pt x="2260" y="44877"/>
                </a:lnTo>
                <a:lnTo>
                  <a:pt x="14445" y="44877"/>
                </a:lnTo>
                <a:cubicBezTo>
                  <a:pt x="16499" y="38688"/>
                  <a:pt x="19793" y="32983"/>
                  <a:pt x="24125" y="28109"/>
                </a:cubicBezTo>
                <a:lnTo>
                  <a:pt x="18033" y="17557"/>
                </a:lnTo>
                <a:lnTo>
                  <a:pt x="25489" y="11300"/>
                </a:lnTo>
                <a:lnTo>
                  <a:pt x="34823" y="19133"/>
                </a:lnTo>
                <a:cubicBezTo>
                  <a:pt x="40375" y="15712"/>
                  <a:pt x="46566" y="13459"/>
                  <a:pt x="53017" y="12511"/>
                </a:cubicBezTo>
                <a:lnTo>
                  <a:pt x="55133" y="511"/>
                </a:lnTo>
                <a:lnTo>
                  <a:pt x="64867" y="511"/>
                </a:lnTo>
                <a:lnTo>
                  <a:pt x="66983" y="12511"/>
                </a:lnTo>
                <a:cubicBezTo>
                  <a:pt x="73434" y="13459"/>
                  <a:pt x="79625" y="15712"/>
                  <a:pt x="85177" y="19133"/>
                </a:cubicBezTo>
                <a:close/>
              </a:path>
            </a:pathLst>
          </a:cu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2116836" y="3739896"/>
            <a:ext cx="841248" cy="841248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2295601" y="3981754"/>
            <a:ext cx="483717" cy="357530"/>
          </a:xfrm>
          <a:prstGeom prst="roundRect">
            <a:avLst>
              <a:gd fmla="val 12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2343972" y="4031809"/>
            <a:ext cx="29023" cy="29023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2397181" y="4031809"/>
            <a:ext cx="29023" cy="29023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2450390" y="4031809"/>
            <a:ext cx="29023" cy="29023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3"/>
          <p:cNvCxnSpPr/>
          <p:nvPr/>
        </p:nvCxnSpPr>
        <p:spPr>
          <a:xfrm>
            <a:off x="2372996" y="4203423"/>
            <a:ext cx="87069" cy="57205"/>
          </a:xfrm>
          <a:prstGeom prst="straightConnector1">
            <a:avLst/>
          </a:prstGeom>
          <a:noFill/>
          <a:ln cap="flat" cmpd="sng" w="22225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3"/>
          <p:cNvCxnSpPr/>
          <p:nvPr/>
        </p:nvCxnSpPr>
        <p:spPr>
          <a:xfrm flipH="1" rot="10800000">
            <a:off x="2372996" y="4203423"/>
            <a:ext cx="87069" cy="57205"/>
          </a:xfrm>
          <a:prstGeom prst="straightConnector1">
            <a:avLst/>
          </a:prstGeom>
          <a:noFill/>
          <a:ln cap="flat" cmpd="sng" w="22225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3"/>
          <p:cNvCxnSpPr/>
          <p:nvPr/>
        </p:nvCxnSpPr>
        <p:spPr>
          <a:xfrm>
            <a:off x="2489088" y="4267779"/>
            <a:ext cx="87069" cy="0"/>
          </a:xfrm>
          <a:prstGeom prst="straightConnector1">
            <a:avLst/>
          </a:prstGeom>
          <a:noFill/>
          <a:ln cap="flat" cmpd="sng" w="22225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3"/>
          <p:cNvSpPr txBox="1"/>
          <p:nvPr/>
        </p:nvSpPr>
        <p:spPr>
          <a:xfrm>
            <a:off x="822960" y="4764024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Configure Systems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822960" y="507492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Set up and update servers automatically.</a:t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6003036" y="3739896"/>
            <a:ext cx="841248" cy="841248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6160770" y="3981754"/>
            <a:ext cx="525780" cy="357530"/>
          </a:xfrm>
          <a:prstGeom prst="cloud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4709160" y="4764024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Deploy Applications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4709160" y="507492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Push new releases without manual steps.</a:t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9889236" y="3739896"/>
            <a:ext cx="841248" cy="841248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10250972" y="4101632"/>
            <a:ext cx="117774" cy="117774"/>
          </a:xfrm>
          <a:prstGeom prst="ellipse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3"/>
          <p:cNvCxnSpPr/>
          <p:nvPr/>
        </p:nvCxnSpPr>
        <p:spPr>
          <a:xfrm rot="10800000">
            <a:off x="10309860" y="3899733"/>
            <a:ext cx="0" cy="260787"/>
          </a:xfrm>
          <a:prstGeom prst="straightConnector1">
            <a:avLst/>
          </a:prstGeom>
          <a:noFill/>
          <a:ln cap="flat" cmpd="sng" w="222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3"/>
          <p:cNvSpPr/>
          <p:nvPr/>
        </p:nvSpPr>
        <p:spPr>
          <a:xfrm>
            <a:off x="10272003" y="3861876"/>
            <a:ext cx="75712" cy="75712"/>
          </a:xfrm>
          <a:prstGeom prst="ellipse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3"/>
          <p:cNvCxnSpPr/>
          <p:nvPr/>
        </p:nvCxnSpPr>
        <p:spPr>
          <a:xfrm>
            <a:off x="10309860" y="4160520"/>
            <a:ext cx="225848" cy="130393"/>
          </a:xfrm>
          <a:prstGeom prst="straightConnector1">
            <a:avLst/>
          </a:prstGeom>
          <a:noFill/>
          <a:ln cap="flat" cmpd="sng" w="222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3"/>
          <p:cNvSpPr/>
          <p:nvPr/>
        </p:nvSpPr>
        <p:spPr>
          <a:xfrm>
            <a:off x="10497851" y="4253057"/>
            <a:ext cx="75712" cy="75712"/>
          </a:xfrm>
          <a:prstGeom prst="ellipse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3"/>
          <p:cNvCxnSpPr/>
          <p:nvPr/>
        </p:nvCxnSpPr>
        <p:spPr>
          <a:xfrm flipH="1">
            <a:off x="10084011" y="4160520"/>
            <a:ext cx="225849" cy="130393"/>
          </a:xfrm>
          <a:prstGeom prst="straightConnector1">
            <a:avLst/>
          </a:prstGeom>
          <a:noFill/>
          <a:ln cap="flat" cmpd="sng" w="222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3"/>
          <p:cNvSpPr/>
          <p:nvPr/>
        </p:nvSpPr>
        <p:spPr>
          <a:xfrm>
            <a:off x="10046155" y="4253057"/>
            <a:ext cx="75712" cy="75712"/>
          </a:xfrm>
          <a:prstGeom prst="ellipse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8595360" y="4764024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Orchestrate Tasks</a:t>
            </a:r>
            <a:endParaRPr/>
          </a:p>
        </p:txBody>
      </p:sp>
      <p:sp>
        <p:nvSpPr>
          <p:cNvPr id="208" name="Google Shape;208;p3"/>
          <p:cNvSpPr txBox="1"/>
          <p:nvPr/>
        </p:nvSpPr>
        <p:spPr>
          <a:xfrm>
            <a:off x="8595360" y="507492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Run multi-step jobs in the right order.</a:t>
            </a:r>
            <a:endParaRPr/>
          </a:p>
        </p:txBody>
      </p:sp>
      <p:sp>
        <p:nvSpPr>
          <p:cNvPr id="209" name="Google Shape;209;p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210" name="Google Shape;210;p3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4"/>
          <p:cNvCxnSpPr/>
          <p:nvPr/>
        </p:nvCxnSpPr>
        <p:spPr>
          <a:xfrm flipH="1" rot="10800000">
            <a:off x="704088" y="664905"/>
            <a:ext cx="63042" cy="52898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4"/>
          <p:cNvCxnSpPr/>
          <p:nvPr/>
        </p:nvCxnSpPr>
        <p:spPr>
          <a:xfrm rot="10800000">
            <a:off x="626755" y="689657"/>
            <a:ext cx="77333" cy="28146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4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WHY IT WORKS</a:t>
            </a:r>
            <a:endParaRPr/>
          </a:p>
        </p:txBody>
      </p:sp>
      <p:sp>
        <p:nvSpPr>
          <p:cNvPr id="222" name="Google Shape;222;p4"/>
          <p:cNvSpPr txBox="1"/>
          <p:nvPr/>
        </p:nvSpPr>
        <p:spPr>
          <a:xfrm>
            <a:off x="685800" y="960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Why Everyone Loves Ansible</a:t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1344168" y="2112264"/>
            <a:ext cx="804672" cy="80467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1432681" y="2200777"/>
            <a:ext cx="627644" cy="627644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1581747" y="2417315"/>
            <a:ext cx="329513" cy="194569"/>
          </a:xfrm>
          <a:prstGeom prst="roundRect">
            <a:avLst>
              <a:gd fmla="val 18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1621288" y="2471794"/>
            <a:ext cx="164756" cy="19456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1621288" y="2557405"/>
            <a:ext cx="164756" cy="19456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1838767" y="2460120"/>
            <a:ext cx="32951" cy="32951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1400495" y="2168591"/>
            <a:ext cx="692017" cy="692017"/>
          </a:xfrm>
          <a:prstGeom prst="ellipse">
            <a:avLst/>
          </a:prstGeom>
          <a:noFill/>
          <a:ln cap="flat" cmpd="sng" w="381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4"/>
          <p:cNvCxnSpPr/>
          <p:nvPr/>
        </p:nvCxnSpPr>
        <p:spPr>
          <a:xfrm flipH="1" rot="10800000">
            <a:off x="1505102" y="2273198"/>
            <a:ext cx="482803" cy="482803"/>
          </a:xfrm>
          <a:prstGeom prst="straightConnector1">
            <a:avLst/>
          </a:prstGeom>
          <a:noFill/>
          <a:ln cap="flat" cmpd="sng" w="381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4"/>
          <p:cNvSpPr txBox="1"/>
          <p:nvPr/>
        </p:nvSpPr>
        <p:spPr>
          <a:xfrm>
            <a:off x="685800" y="3099816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Agentless</a:t>
            </a:r>
            <a:endParaRPr/>
          </a:p>
        </p:txBody>
      </p:sp>
      <p:sp>
        <p:nvSpPr>
          <p:cNvPr id="232" name="Google Shape;232;p4"/>
          <p:cNvSpPr txBox="1"/>
          <p:nvPr/>
        </p:nvSpPr>
        <p:spPr>
          <a:xfrm>
            <a:off x="685800" y="3410712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Nothing to install on the machines it manages.</a:t>
            </a:r>
            <a:endParaRPr/>
          </a:p>
        </p:txBody>
      </p:sp>
      <p:sp>
        <p:nvSpPr>
          <p:cNvPr id="233" name="Google Shape;233;p4"/>
          <p:cNvSpPr/>
          <p:nvPr/>
        </p:nvSpPr>
        <p:spPr>
          <a:xfrm>
            <a:off x="3611879" y="2112264"/>
            <a:ext cx="804672" cy="80467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3829141" y="2289291"/>
            <a:ext cx="370149" cy="450616"/>
          </a:xfrm>
          <a:prstGeom prst="foldedCorner">
            <a:avLst>
              <a:gd fmla="val 16667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3903171" y="2442501"/>
            <a:ext cx="222089" cy="31543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3903171" y="2528118"/>
            <a:ext cx="222089" cy="31543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3903171" y="2613735"/>
            <a:ext cx="222089" cy="31543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 txBox="1"/>
          <p:nvPr/>
        </p:nvSpPr>
        <p:spPr>
          <a:xfrm>
            <a:off x="2953512" y="3099816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Simple YAML</a:t>
            </a:r>
            <a:endParaRPr/>
          </a:p>
        </p:txBody>
      </p:sp>
      <p:sp>
        <p:nvSpPr>
          <p:cNvPr id="239" name="Google Shape;239;p4"/>
          <p:cNvSpPr txBox="1"/>
          <p:nvPr/>
        </p:nvSpPr>
        <p:spPr>
          <a:xfrm>
            <a:off x="2953512" y="3410712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Playbooks read like plain English steps.</a:t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5879592" y="2112264"/>
            <a:ext cx="804672" cy="80467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4"/>
          <p:cNvCxnSpPr/>
          <p:nvPr/>
        </p:nvCxnSpPr>
        <p:spPr>
          <a:xfrm>
            <a:off x="6112946" y="2522646"/>
            <a:ext cx="136795" cy="144841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4"/>
          <p:cNvCxnSpPr/>
          <p:nvPr/>
        </p:nvCxnSpPr>
        <p:spPr>
          <a:xfrm flipH="1" rot="10800000">
            <a:off x="6249741" y="2385852"/>
            <a:ext cx="225308" cy="281635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4"/>
          <p:cNvSpPr txBox="1"/>
          <p:nvPr/>
        </p:nvSpPr>
        <p:spPr>
          <a:xfrm>
            <a:off x="5221224" y="3099816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Consistent</a:t>
            </a:r>
            <a:endParaRPr/>
          </a:p>
        </p:txBody>
      </p:sp>
      <p:sp>
        <p:nvSpPr>
          <p:cNvPr id="244" name="Google Shape;244;p4"/>
          <p:cNvSpPr txBox="1"/>
          <p:nvPr/>
        </p:nvSpPr>
        <p:spPr>
          <a:xfrm>
            <a:off x="5221224" y="3410712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Run it twice — get the exact same result.</a:t>
            </a:r>
            <a:endParaRPr/>
          </a:p>
        </p:txBody>
      </p:sp>
      <p:sp>
        <p:nvSpPr>
          <p:cNvPr id="245" name="Google Shape;245;p4"/>
          <p:cNvSpPr/>
          <p:nvPr/>
        </p:nvSpPr>
        <p:spPr>
          <a:xfrm>
            <a:off x="8147304" y="2112264"/>
            <a:ext cx="804672" cy="80467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8328355" y="2293315"/>
            <a:ext cx="442569" cy="318650"/>
          </a:xfrm>
          <a:prstGeom prst="flowChartPredefinedProcess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 txBox="1"/>
          <p:nvPr/>
        </p:nvSpPr>
        <p:spPr>
          <a:xfrm>
            <a:off x="7488936" y="3099816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Huge Library</a:t>
            </a:r>
            <a:endParaRPr/>
          </a:p>
        </p:txBody>
      </p:sp>
      <p:sp>
        <p:nvSpPr>
          <p:cNvPr id="248" name="Google Shape;248;p4"/>
          <p:cNvSpPr txBox="1"/>
          <p:nvPr/>
        </p:nvSpPr>
        <p:spPr>
          <a:xfrm>
            <a:off x="7488936" y="3410712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Thousands of ready-made building blocks.</a:t>
            </a:r>
            <a:endParaRPr/>
          </a:p>
        </p:txBody>
      </p:sp>
      <p:sp>
        <p:nvSpPr>
          <p:cNvPr id="249" name="Google Shape;249;p4"/>
          <p:cNvSpPr/>
          <p:nvPr/>
        </p:nvSpPr>
        <p:spPr>
          <a:xfrm>
            <a:off x="10415016" y="2112264"/>
            <a:ext cx="804672" cy="80467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"/>
          <p:cNvSpPr txBox="1"/>
          <p:nvPr/>
        </p:nvSpPr>
        <p:spPr>
          <a:xfrm>
            <a:off x="10415016" y="2265151"/>
            <a:ext cx="804672" cy="498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F8F8"/>
                </a:solidFill>
                <a:latin typeface="Courier New"/>
                <a:ea typeface="Courier New"/>
                <a:cs typeface="Courier New"/>
                <a:sym typeface="Courier New"/>
              </a:rPr>
              <a:t>&lt;/&gt;</a:t>
            </a:r>
            <a:endParaRPr/>
          </a:p>
        </p:txBody>
      </p:sp>
      <p:sp>
        <p:nvSpPr>
          <p:cNvPr id="251" name="Google Shape;251;p4"/>
          <p:cNvSpPr txBox="1"/>
          <p:nvPr/>
        </p:nvSpPr>
        <p:spPr>
          <a:xfrm>
            <a:off x="9756648" y="3099816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Free &amp; Open</a:t>
            </a:r>
            <a:endParaRPr/>
          </a:p>
        </p:txBody>
      </p:sp>
      <p:sp>
        <p:nvSpPr>
          <p:cNvPr id="252" name="Google Shape;252;p4"/>
          <p:cNvSpPr txBox="1"/>
          <p:nvPr/>
        </p:nvSpPr>
        <p:spPr>
          <a:xfrm>
            <a:off x="9756648" y="3410712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Open source, no license fee to start.</a:t>
            </a:r>
            <a:endParaRPr/>
          </a:p>
        </p:txBody>
      </p:sp>
      <p:sp>
        <p:nvSpPr>
          <p:cNvPr id="253" name="Google Shape;253;p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254" name="Google Shape;254;p4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5"/>
          <p:cNvCxnSpPr/>
          <p:nvPr/>
        </p:nvCxnSpPr>
        <p:spPr>
          <a:xfrm flipH="1" rot="10800000">
            <a:off x="704088" y="664905"/>
            <a:ext cx="63042" cy="52898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5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5"/>
          <p:cNvCxnSpPr/>
          <p:nvPr/>
        </p:nvCxnSpPr>
        <p:spPr>
          <a:xfrm rot="10800000">
            <a:off x="626755" y="689657"/>
            <a:ext cx="77333" cy="28146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5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ANSIBLE VS. THE REST</a:t>
            </a:r>
            <a:endParaRPr/>
          </a:p>
        </p:txBody>
      </p:sp>
      <p:sp>
        <p:nvSpPr>
          <p:cNvPr id="266" name="Google Shape;266;p5"/>
          <p:cNvSpPr txBox="1"/>
          <p:nvPr/>
        </p:nvSpPr>
        <p:spPr>
          <a:xfrm>
            <a:off x="685800" y="96012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How Does Ansible Compare?</a:t>
            </a:r>
            <a:endParaRPr/>
          </a:p>
        </p:txBody>
      </p:sp>
      <p:sp>
        <p:nvSpPr>
          <p:cNvPr id="267" name="Google Shape;267;p5"/>
          <p:cNvSpPr txBox="1"/>
          <p:nvPr/>
        </p:nvSpPr>
        <p:spPr>
          <a:xfrm>
            <a:off x="685800" y="2606040"/>
            <a:ext cx="1417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endParaRPr/>
          </a:p>
        </p:txBody>
      </p:sp>
      <p:sp>
        <p:nvSpPr>
          <p:cNvPr id="268" name="Google Shape;268;p5"/>
          <p:cNvSpPr txBox="1"/>
          <p:nvPr/>
        </p:nvSpPr>
        <p:spPr>
          <a:xfrm>
            <a:off x="685800" y="3355848"/>
            <a:ext cx="1417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LANGUAGE</a:t>
            </a:r>
            <a:endParaRPr/>
          </a:p>
        </p:txBody>
      </p:sp>
      <p:cxnSp>
        <p:nvCxnSpPr>
          <p:cNvPr id="269" name="Google Shape;269;p5"/>
          <p:cNvCxnSpPr/>
          <p:nvPr/>
        </p:nvCxnSpPr>
        <p:spPr>
          <a:xfrm>
            <a:off x="685800" y="3355848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4DD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5"/>
          <p:cNvSpPr txBox="1"/>
          <p:nvPr/>
        </p:nvSpPr>
        <p:spPr>
          <a:xfrm>
            <a:off x="685800" y="4105656"/>
            <a:ext cx="1417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HOW IT RUNS</a:t>
            </a:r>
            <a:endParaRPr/>
          </a:p>
        </p:txBody>
      </p:sp>
      <p:cxnSp>
        <p:nvCxnSpPr>
          <p:cNvPr id="271" name="Google Shape;271;p5"/>
          <p:cNvCxnSpPr/>
          <p:nvPr/>
        </p:nvCxnSpPr>
        <p:spPr>
          <a:xfrm>
            <a:off x="685800" y="4105656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4DD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5"/>
          <p:cNvSpPr txBox="1"/>
          <p:nvPr/>
        </p:nvSpPr>
        <p:spPr>
          <a:xfrm>
            <a:off x="685800" y="4855464"/>
            <a:ext cx="1417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LEARNING CURVE</a:t>
            </a:r>
            <a:endParaRPr/>
          </a:p>
        </p:txBody>
      </p:sp>
      <p:cxnSp>
        <p:nvCxnSpPr>
          <p:cNvPr id="273" name="Google Shape;273;p5"/>
          <p:cNvCxnSpPr/>
          <p:nvPr/>
        </p:nvCxnSpPr>
        <p:spPr>
          <a:xfrm>
            <a:off x="685800" y="4855464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4DD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5"/>
          <p:cNvSpPr/>
          <p:nvPr/>
        </p:nvSpPr>
        <p:spPr>
          <a:xfrm>
            <a:off x="2240279" y="1874519"/>
            <a:ext cx="3047999" cy="3730752"/>
          </a:xfrm>
          <a:prstGeom prst="roundRect">
            <a:avLst>
              <a:gd fmla="val 6000" name="adj"/>
            </a:avLst>
          </a:prstGeom>
          <a:solidFill>
            <a:srgbClr val="FBE7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2240279" y="1874519"/>
            <a:ext cx="3047999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ANSIBLE</a:t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4849367" y="2039111"/>
            <a:ext cx="292608" cy="292608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5"/>
          <p:cNvCxnSpPr/>
          <p:nvPr/>
        </p:nvCxnSpPr>
        <p:spPr>
          <a:xfrm>
            <a:off x="4934224" y="2188342"/>
            <a:ext cx="49743" cy="52669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5"/>
          <p:cNvCxnSpPr/>
          <p:nvPr/>
        </p:nvCxnSpPr>
        <p:spPr>
          <a:xfrm flipH="1" rot="10800000">
            <a:off x="4983967" y="2138598"/>
            <a:ext cx="81930" cy="102413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5"/>
          <p:cNvSpPr txBox="1"/>
          <p:nvPr/>
        </p:nvSpPr>
        <p:spPr>
          <a:xfrm>
            <a:off x="2441448" y="2734056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D10012"/>
                </a:solidFill>
                <a:latin typeface="Cambria"/>
                <a:ea typeface="Cambria"/>
                <a:cs typeface="Cambria"/>
                <a:sym typeface="Cambria"/>
              </a:rPr>
              <a:t>No agent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Just SSH</a:t>
            </a:r>
            <a:endParaRPr/>
          </a:p>
        </p:txBody>
      </p:sp>
      <p:sp>
        <p:nvSpPr>
          <p:cNvPr id="280" name="Google Shape;280;p5"/>
          <p:cNvSpPr txBox="1"/>
          <p:nvPr/>
        </p:nvSpPr>
        <p:spPr>
          <a:xfrm>
            <a:off x="2441448" y="3483864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D10012"/>
                </a:solidFill>
                <a:latin typeface="Cambria"/>
                <a:ea typeface="Cambria"/>
                <a:cs typeface="Cambria"/>
                <a:sym typeface="Cambria"/>
              </a:rPr>
              <a:t>YAML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Plain &amp; readable</a:t>
            </a:r>
            <a:endParaRPr/>
          </a:p>
        </p:txBody>
      </p:sp>
      <p:sp>
        <p:nvSpPr>
          <p:cNvPr id="281" name="Google Shape;281;p5"/>
          <p:cNvSpPr txBox="1"/>
          <p:nvPr/>
        </p:nvSpPr>
        <p:spPr>
          <a:xfrm>
            <a:off x="2441448" y="4233672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D10012"/>
                </a:solidFill>
                <a:latin typeface="Cambria"/>
                <a:ea typeface="Cambria"/>
                <a:cs typeface="Cambria"/>
                <a:sym typeface="Cambria"/>
              </a:rPr>
              <a:t>Push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You trigger it</a:t>
            </a:r>
            <a:endParaRPr/>
          </a:p>
        </p:txBody>
      </p:sp>
      <p:sp>
        <p:nvSpPr>
          <p:cNvPr id="282" name="Google Shape;282;p5"/>
          <p:cNvSpPr txBox="1"/>
          <p:nvPr/>
        </p:nvSpPr>
        <p:spPr>
          <a:xfrm>
            <a:off x="2441448" y="4983480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D10012"/>
                </a:solidFill>
                <a:latin typeface="Cambria"/>
                <a:ea typeface="Cambria"/>
                <a:cs typeface="Cambria"/>
                <a:sym typeface="Cambria"/>
              </a:rPr>
              <a:t>Gentle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Start today</a:t>
            </a:r>
            <a:endParaRPr/>
          </a:p>
        </p:txBody>
      </p:sp>
      <p:sp>
        <p:nvSpPr>
          <p:cNvPr id="283" name="Google Shape;283;p5"/>
          <p:cNvSpPr/>
          <p:nvPr/>
        </p:nvSpPr>
        <p:spPr>
          <a:xfrm>
            <a:off x="5425439" y="1874519"/>
            <a:ext cx="3047999" cy="3730752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5425439" y="1874519"/>
            <a:ext cx="3047999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PUPPET</a:t>
            </a:r>
            <a:endParaRPr/>
          </a:p>
        </p:txBody>
      </p:sp>
      <p:sp>
        <p:nvSpPr>
          <p:cNvPr id="285" name="Google Shape;285;p5"/>
          <p:cNvSpPr txBox="1"/>
          <p:nvPr/>
        </p:nvSpPr>
        <p:spPr>
          <a:xfrm>
            <a:off x="5626607" y="2734056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Agent required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On every node</a:t>
            </a:r>
            <a:endParaRPr/>
          </a:p>
        </p:txBody>
      </p:sp>
      <p:sp>
        <p:nvSpPr>
          <p:cNvPr id="286" name="Google Shape;286;p5"/>
          <p:cNvSpPr txBox="1"/>
          <p:nvPr/>
        </p:nvSpPr>
        <p:spPr>
          <a:xfrm>
            <a:off x="5626607" y="3483864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Puppet DSL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Its own syntax</a:t>
            </a:r>
            <a:endParaRPr/>
          </a:p>
        </p:txBody>
      </p:sp>
      <p:sp>
        <p:nvSpPr>
          <p:cNvPr id="287" name="Google Shape;287;p5"/>
          <p:cNvSpPr txBox="1"/>
          <p:nvPr/>
        </p:nvSpPr>
        <p:spPr>
          <a:xfrm>
            <a:off x="5626607" y="4233672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Pull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Agents check in</a:t>
            </a:r>
            <a:endParaRPr/>
          </a:p>
        </p:txBody>
      </p:sp>
      <p:sp>
        <p:nvSpPr>
          <p:cNvPr id="288" name="Google Shape;288;p5"/>
          <p:cNvSpPr txBox="1"/>
          <p:nvPr/>
        </p:nvSpPr>
        <p:spPr>
          <a:xfrm>
            <a:off x="5626607" y="4983480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Steeper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New syntax to learn</a:t>
            </a:r>
            <a:endParaRPr/>
          </a:p>
        </p:txBody>
      </p:sp>
      <p:sp>
        <p:nvSpPr>
          <p:cNvPr id="289" name="Google Shape;289;p5"/>
          <p:cNvSpPr/>
          <p:nvPr/>
        </p:nvSpPr>
        <p:spPr>
          <a:xfrm>
            <a:off x="8610599" y="1874519"/>
            <a:ext cx="3047999" cy="3730752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8610599" y="1874519"/>
            <a:ext cx="3047999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CHEF</a:t>
            </a:r>
            <a:endParaRPr/>
          </a:p>
        </p:txBody>
      </p:sp>
      <p:sp>
        <p:nvSpPr>
          <p:cNvPr id="291" name="Google Shape;291;p5"/>
          <p:cNvSpPr txBox="1"/>
          <p:nvPr/>
        </p:nvSpPr>
        <p:spPr>
          <a:xfrm>
            <a:off x="8811767" y="2734056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Agent + server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Chef server needed</a:t>
            </a:r>
            <a:endParaRPr/>
          </a:p>
        </p:txBody>
      </p:sp>
      <p:sp>
        <p:nvSpPr>
          <p:cNvPr id="292" name="Google Shape;292;p5"/>
          <p:cNvSpPr txBox="1"/>
          <p:nvPr/>
        </p:nvSpPr>
        <p:spPr>
          <a:xfrm>
            <a:off x="8811767" y="3483864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Ruby DSL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Needs Ruby knowledge</a:t>
            </a:r>
            <a:endParaRPr/>
          </a:p>
        </p:txBody>
      </p:sp>
      <p:sp>
        <p:nvSpPr>
          <p:cNvPr id="293" name="Google Shape;293;p5"/>
          <p:cNvSpPr txBox="1"/>
          <p:nvPr/>
        </p:nvSpPr>
        <p:spPr>
          <a:xfrm>
            <a:off x="8811767" y="4233672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Pull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Agents check in</a:t>
            </a:r>
            <a:endParaRPr/>
          </a:p>
        </p:txBody>
      </p:sp>
      <p:sp>
        <p:nvSpPr>
          <p:cNvPr id="294" name="Google Shape;294;p5"/>
          <p:cNvSpPr txBox="1"/>
          <p:nvPr/>
        </p:nvSpPr>
        <p:spPr>
          <a:xfrm>
            <a:off x="8811767" y="4983480"/>
            <a:ext cx="2645663" cy="566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Steepest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Ruby + DSL, both</a:t>
            </a:r>
            <a:endParaRPr/>
          </a:p>
        </p:txBody>
      </p:sp>
      <p:sp>
        <p:nvSpPr>
          <p:cNvPr id="295" name="Google Shape;295;p5"/>
          <p:cNvSpPr txBox="1"/>
          <p:nvPr/>
        </p:nvSpPr>
        <p:spPr>
          <a:xfrm>
            <a:off x="685800" y="5742432"/>
            <a:ext cx="10835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Puppet and Chef are powerful, but both need an agent everywhere and a steeper learning curve.</a:t>
            </a:r>
            <a:endParaRPr/>
          </a:p>
        </p:txBody>
      </p:sp>
      <p:sp>
        <p:nvSpPr>
          <p:cNvPr id="296" name="Google Shape;296;p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297" name="Google Shape;297;p5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6"/>
          <p:cNvCxnSpPr/>
          <p:nvPr/>
        </p:nvCxnSpPr>
        <p:spPr>
          <a:xfrm flipH="1" rot="10800000">
            <a:off x="704088" y="664905"/>
            <a:ext cx="63042" cy="52898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6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6"/>
          <p:cNvCxnSpPr/>
          <p:nvPr/>
        </p:nvCxnSpPr>
        <p:spPr>
          <a:xfrm rot="10800000">
            <a:off x="626755" y="689657"/>
            <a:ext cx="77333" cy="28146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UNDER THE HOOD</a:t>
            </a:r>
            <a:endParaRPr/>
          </a:p>
        </p:txBody>
      </p:sp>
      <p:sp>
        <p:nvSpPr>
          <p:cNvPr id="309" name="Google Shape;309;p6"/>
          <p:cNvSpPr txBox="1"/>
          <p:nvPr/>
        </p:nvSpPr>
        <p:spPr>
          <a:xfrm>
            <a:off x="685800" y="960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How Does Ansible Actually Connect?</a:t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1371600" y="3108960"/>
            <a:ext cx="1554480" cy="155448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1701927" y="3555873"/>
            <a:ext cx="893825" cy="660653"/>
          </a:xfrm>
          <a:prstGeom prst="roundRect">
            <a:avLst>
              <a:gd fmla="val 12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1791309" y="3648364"/>
            <a:ext cx="53629" cy="53629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1889630" y="3648364"/>
            <a:ext cx="53629" cy="53629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1987951" y="3648364"/>
            <a:ext cx="53629" cy="53629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6"/>
          <p:cNvCxnSpPr/>
          <p:nvPr/>
        </p:nvCxnSpPr>
        <p:spPr>
          <a:xfrm>
            <a:off x="1844939" y="3965478"/>
            <a:ext cx="160888" cy="105705"/>
          </a:xfrm>
          <a:prstGeom prst="straightConnector1">
            <a:avLst/>
          </a:prstGeom>
          <a:noFill/>
          <a:ln cap="flat" cmpd="sng" w="22225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6"/>
          <p:cNvCxnSpPr/>
          <p:nvPr/>
        </p:nvCxnSpPr>
        <p:spPr>
          <a:xfrm flipH="1" rot="10800000">
            <a:off x="1844939" y="3965478"/>
            <a:ext cx="160888" cy="105705"/>
          </a:xfrm>
          <a:prstGeom prst="straightConnector1">
            <a:avLst/>
          </a:prstGeom>
          <a:noFill/>
          <a:ln cap="flat" cmpd="sng" w="22225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6"/>
          <p:cNvCxnSpPr/>
          <p:nvPr/>
        </p:nvCxnSpPr>
        <p:spPr>
          <a:xfrm>
            <a:off x="2059457" y="4084396"/>
            <a:ext cx="160889" cy="0"/>
          </a:xfrm>
          <a:prstGeom prst="straightConnector1">
            <a:avLst/>
          </a:prstGeom>
          <a:noFill/>
          <a:ln cap="flat" cmpd="sng" w="22225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6"/>
          <p:cNvSpPr txBox="1"/>
          <p:nvPr/>
        </p:nvSpPr>
        <p:spPr>
          <a:xfrm>
            <a:off x="777240" y="484632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CONTROL NODE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Where Ansible lives</a:t>
            </a:r>
            <a:endParaRPr/>
          </a:p>
        </p:txBody>
      </p:sp>
      <p:cxnSp>
        <p:nvCxnSpPr>
          <p:cNvPr id="319" name="Google Shape;319;p6"/>
          <p:cNvCxnSpPr/>
          <p:nvPr/>
        </p:nvCxnSpPr>
        <p:spPr>
          <a:xfrm flipH="1" rot="10800000">
            <a:off x="2898648" y="2148840"/>
            <a:ext cx="5193792" cy="1633118"/>
          </a:xfrm>
          <a:prstGeom prst="straightConnector1">
            <a:avLst/>
          </a:prstGeom>
          <a:noFill/>
          <a:ln cap="flat" cmpd="sng" w="17775">
            <a:solidFill>
              <a:srgbClr val="1C151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6"/>
          <p:cNvCxnSpPr/>
          <p:nvPr/>
        </p:nvCxnSpPr>
        <p:spPr>
          <a:xfrm>
            <a:off x="2898648" y="3886200"/>
            <a:ext cx="5193792" cy="0"/>
          </a:xfrm>
          <a:prstGeom prst="straightConnector1">
            <a:avLst/>
          </a:prstGeom>
          <a:noFill/>
          <a:ln cap="flat" cmpd="sng" w="17775">
            <a:solidFill>
              <a:srgbClr val="1C151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1" name="Google Shape;321;p6"/>
          <p:cNvCxnSpPr/>
          <p:nvPr/>
        </p:nvCxnSpPr>
        <p:spPr>
          <a:xfrm>
            <a:off x="2898648" y="3990441"/>
            <a:ext cx="5193792" cy="1633119"/>
          </a:xfrm>
          <a:prstGeom prst="straightConnector1">
            <a:avLst/>
          </a:prstGeom>
          <a:noFill/>
          <a:ln cap="flat" cmpd="sng" w="17775">
            <a:solidFill>
              <a:srgbClr val="1C151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2" name="Google Shape;322;p6"/>
          <p:cNvSpPr/>
          <p:nvPr/>
        </p:nvSpPr>
        <p:spPr>
          <a:xfrm>
            <a:off x="8247888" y="1618488"/>
            <a:ext cx="1060704" cy="1060704"/>
          </a:xfrm>
          <a:prstGeom prst="ellipse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8499805" y="1984430"/>
            <a:ext cx="556869" cy="328818"/>
          </a:xfrm>
          <a:prstGeom prst="roundRect">
            <a:avLst>
              <a:gd fmla="val 18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8566629" y="2076499"/>
            <a:ext cx="278434" cy="32881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8566629" y="2221180"/>
            <a:ext cx="278434" cy="32881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8934163" y="2056770"/>
            <a:ext cx="55686" cy="5568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 txBox="1"/>
          <p:nvPr/>
        </p:nvSpPr>
        <p:spPr>
          <a:xfrm>
            <a:off x="9491472" y="194767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Web Server</a:t>
            </a:r>
            <a:endParaRPr/>
          </a:p>
        </p:txBody>
      </p:sp>
      <p:sp>
        <p:nvSpPr>
          <p:cNvPr id="328" name="Google Shape;328;p6"/>
          <p:cNvSpPr/>
          <p:nvPr/>
        </p:nvSpPr>
        <p:spPr>
          <a:xfrm>
            <a:off x="8247888" y="3355848"/>
            <a:ext cx="1060704" cy="1060704"/>
          </a:xfrm>
          <a:prstGeom prst="ellipse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8499805" y="3721790"/>
            <a:ext cx="556869" cy="328818"/>
          </a:xfrm>
          <a:prstGeom prst="roundRect">
            <a:avLst>
              <a:gd fmla="val 18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8566629" y="3813859"/>
            <a:ext cx="278434" cy="32881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8566629" y="3958540"/>
            <a:ext cx="278434" cy="32881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8934163" y="3794130"/>
            <a:ext cx="55686" cy="5568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 txBox="1"/>
          <p:nvPr/>
        </p:nvSpPr>
        <p:spPr>
          <a:xfrm>
            <a:off x="9491472" y="368503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Database Server</a:t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8247888" y="5093208"/>
            <a:ext cx="1060704" cy="1060704"/>
          </a:xfrm>
          <a:prstGeom prst="ellipse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8499805" y="5459150"/>
            <a:ext cx="556869" cy="328818"/>
          </a:xfrm>
          <a:prstGeom prst="roundRect">
            <a:avLst>
              <a:gd fmla="val 18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8566629" y="5551219"/>
            <a:ext cx="278434" cy="32881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8566629" y="5695900"/>
            <a:ext cx="278434" cy="32881"/>
          </a:xfrm>
          <a:prstGeom prst="rect">
            <a:avLst/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8934163" y="5531490"/>
            <a:ext cx="55686" cy="5568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9491472" y="542239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App Server</a:t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5038344" y="2478024"/>
            <a:ext cx="621792" cy="621792"/>
          </a:xfrm>
          <a:prstGeom prst="ellipse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5255225" y="2650136"/>
            <a:ext cx="188029" cy="188029"/>
          </a:xfrm>
          <a:prstGeom prst="ellipse">
            <a:avLst/>
          </a:prstGeom>
          <a:noFill/>
          <a:ln cap="flat" cmpd="sng" w="33000">
            <a:solidFill>
              <a:srgbClr val="1C1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5193792" y="2779282"/>
            <a:ext cx="310896" cy="192755"/>
          </a:xfrm>
          <a:prstGeom prst="roundRect">
            <a:avLst>
              <a:gd fmla="val 22000" name="adj"/>
            </a:avLst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5330586" y="2819760"/>
            <a:ext cx="37307" cy="37307"/>
          </a:xfrm>
          <a:prstGeom prst="ellipse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 txBox="1"/>
          <p:nvPr/>
        </p:nvSpPr>
        <p:spPr>
          <a:xfrm>
            <a:off x="4343400" y="2011679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SSH · WinRM</a:t>
            </a:r>
            <a:endParaRPr/>
          </a:p>
        </p:txBody>
      </p:sp>
      <p:sp>
        <p:nvSpPr>
          <p:cNvPr id="345" name="Google Shape;345;p6"/>
          <p:cNvSpPr txBox="1"/>
          <p:nvPr/>
        </p:nvSpPr>
        <p:spPr>
          <a:xfrm>
            <a:off x="4434840" y="50749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1  CONNECT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2  RUN TASK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3  DISCONNECT</a:t>
            </a:r>
            <a:endParaRPr/>
          </a:p>
        </p:txBody>
      </p:sp>
      <p:sp>
        <p:nvSpPr>
          <p:cNvPr id="346" name="Google Shape;346;p6"/>
          <p:cNvSpPr/>
          <p:nvPr/>
        </p:nvSpPr>
        <p:spPr>
          <a:xfrm>
            <a:off x="685800" y="5989320"/>
            <a:ext cx="10835640" cy="658368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923544" y="6099048"/>
            <a:ext cx="438912" cy="43891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6"/>
          <p:cNvCxnSpPr/>
          <p:nvPr/>
        </p:nvCxnSpPr>
        <p:spPr>
          <a:xfrm>
            <a:off x="1050828" y="6322893"/>
            <a:ext cx="74615" cy="79004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6"/>
          <p:cNvCxnSpPr/>
          <p:nvPr/>
        </p:nvCxnSpPr>
        <p:spPr>
          <a:xfrm flipH="1" rot="10800000">
            <a:off x="1125443" y="6248278"/>
            <a:ext cx="122895" cy="153619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6"/>
          <p:cNvSpPr txBox="1"/>
          <p:nvPr/>
        </p:nvSpPr>
        <p:spPr>
          <a:xfrm>
            <a:off x="1508760" y="5989320"/>
            <a:ext cx="9784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Ansible connects, runs the task, then disconnects — no agent software is ever left behind.</a:t>
            </a:r>
            <a:endParaRPr/>
          </a:p>
        </p:txBody>
      </p:sp>
      <p:sp>
        <p:nvSpPr>
          <p:cNvPr id="351" name="Google Shape;351;p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352" name="Google Shape;352;p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7"/>
          <p:cNvCxnSpPr/>
          <p:nvPr/>
        </p:nvCxnSpPr>
        <p:spPr>
          <a:xfrm flipH="1" rot="10800000">
            <a:off x="704088" y="664905"/>
            <a:ext cx="63042" cy="52898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7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7"/>
          <p:cNvCxnSpPr/>
          <p:nvPr/>
        </p:nvCxnSpPr>
        <p:spPr>
          <a:xfrm rot="10800000">
            <a:off x="626755" y="689657"/>
            <a:ext cx="77333" cy="28146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7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CORE CONCEPTS</a:t>
            </a:r>
            <a:endParaRPr/>
          </a:p>
        </p:txBody>
      </p:sp>
      <p:sp>
        <p:nvSpPr>
          <p:cNvPr id="364" name="Google Shape;364;p7"/>
          <p:cNvSpPr txBox="1"/>
          <p:nvPr/>
        </p:nvSpPr>
        <p:spPr>
          <a:xfrm>
            <a:off x="685800" y="9601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The Building Blocks</a:t>
            </a: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685800" y="1874519"/>
            <a:ext cx="5166360" cy="1874519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868680" y="2427732"/>
            <a:ext cx="768096" cy="76809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1079906" y="2590952"/>
            <a:ext cx="345643" cy="441655"/>
          </a:xfrm>
          <a:prstGeom prst="roundRect">
            <a:avLst>
              <a:gd fmla="val 14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1190512" y="2564453"/>
            <a:ext cx="124431" cy="52998"/>
          </a:xfrm>
          <a:prstGeom prst="roundRect">
            <a:avLst>
              <a:gd fmla="val 30000" name="adj"/>
            </a:avLst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1135209" y="2732282"/>
            <a:ext cx="38020" cy="3802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1204337" y="2739194"/>
            <a:ext cx="155539" cy="24195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1135209" y="2820613"/>
            <a:ext cx="38020" cy="3802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1204337" y="2827525"/>
            <a:ext cx="155539" cy="24195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1135209" y="2908944"/>
            <a:ext cx="38020" cy="3802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1204337" y="2915857"/>
            <a:ext cx="155539" cy="24195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 txBox="1"/>
          <p:nvPr/>
        </p:nvSpPr>
        <p:spPr>
          <a:xfrm>
            <a:off x="1828800" y="2112263"/>
            <a:ext cx="3749040" cy="1417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Inventory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The list of servers Ansible manages.</a:t>
            </a:r>
            <a:endParaRPr/>
          </a:p>
        </p:txBody>
      </p:sp>
      <p:sp>
        <p:nvSpPr>
          <p:cNvPr id="376" name="Google Shape;376;p7"/>
          <p:cNvSpPr/>
          <p:nvPr/>
        </p:nvSpPr>
        <p:spPr>
          <a:xfrm>
            <a:off x="6309360" y="1874519"/>
            <a:ext cx="5166360" cy="1874519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6492240" y="2427732"/>
            <a:ext cx="768096" cy="76809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6699625" y="2596713"/>
            <a:ext cx="353324" cy="430133"/>
          </a:xfrm>
          <a:prstGeom prst="foldedCorner">
            <a:avLst>
              <a:gd fmla="val 16667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6770290" y="2742958"/>
            <a:ext cx="211994" cy="30109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6770290" y="2824684"/>
            <a:ext cx="211994" cy="30109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6770290" y="2906409"/>
            <a:ext cx="211994" cy="30109"/>
          </a:xfrm>
          <a:prstGeom prst="rect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 txBox="1"/>
          <p:nvPr/>
        </p:nvSpPr>
        <p:spPr>
          <a:xfrm>
            <a:off x="7452360" y="2112263"/>
            <a:ext cx="3749040" cy="1417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Playbook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A YAML file describing what to do, step by step.</a:t>
            </a:r>
            <a:endParaRPr/>
          </a:p>
        </p:txBody>
      </p:sp>
      <p:sp>
        <p:nvSpPr>
          <p:cNvPr id="383" name="Google Shape;383;p7"/>
          <p:cNvSpPr/>
          <p:nvPr/>
        </p:nvSpPr>
        <p:spPr>
          <a:xfrm>
            <a:off x="685800" y="3977639"/>
            <a:ext cx="5166360" cy="1874519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868680" y="4530852"/>
            <a:ext cx="768096" cy="76809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1041501" y="4703673"/>
            <a:ext cx="422452" cy="304166"/>
          </a:xfrm>
          <a:prstGeom prst="flowChartPredefinedProcess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 txBox="1"/>
          <p:nvPr/>
        </p:nvSpPr>
        <p:spPr>
          <a:xfrm>
            <a:off x="1828800" y="4215383"/>
            <a:ext cx="3749040" cy="1417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Module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A reusable unit of work — install a package, copy a file.</a:t>
            </a: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6309360" y="3977639"/>
            <a:ext cx="5166360" cy="1874519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6492240" y="4530852"/>
            <a:ext cx="768096" cy="76809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6601693" y="4783555"/>
            <a:ext cx="364845" cy="161300"/>
          </a:xfrm>
          <a:prstGeom prst="roundRect">
            <a:avLst>
              <a:gd fmla="val 30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6693865" y="4834249"/>
            <a:ext cx="364845" cy="161300"/>
          </a:xfrm>
          <a:prstGeom prst="roundRect">
            <a:avLst>
              <a:gd fmla="val 30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6786036" y="4884944"/>
            <a:ext cx="364845" cy="161300"/>
          </a:xfrm>
          <a:prstGeom prst="roundRect">
            <a:avLst>
              <a:gd fmla="val 30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 txBox="1"/>
          <p:nvPr/>
        </p:nvSpPr>
        <p:spPr>
          <a:xfrm>
            <a:off x="7452360" y="4215383"/>
            <a:ext cx="3749040" cy="1417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Role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A packaged, reusable bundle of playbooks and files.</a:t>
            </a:r>
            <a:endParaRPr/>
          </a:p>
        </p:txBody>
      </p:sp>
      <p:sp>
        <p:nvSpPr>
          <p:cNvPr id="393" name="Google Shape;393;p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394" name="Google Shape;394;p7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8"/>
          <p:cNvCxnSpPr/>
          <p:nvPr/>
        </p:nvCxnSpPr>
        <p:spPr>
          <a:xfrm flipH="1" rot="10800000">
            <a:off x="704088" y="664905"/>
            <a:ext cx="63042" cy="52898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8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3" name="Google Shape;403;p8"/>
          <p:cNvCxnSpPr/>
          <p:nvPr/>
        </p:nvCxnSpPr>
        <p:spPr>
          <a:xfrm rot="10800000">
            <a:off x="626755" y="689657"/>
            <a:ext cx="77333" cy="28146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8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SEE IT IN ACTION</a:t>
            </a:r>
            <a:endParaRPr/>
          </a:p>
        </p:txBody>
      </p:sp>
      <p:sp>
        <p:nvSpPr>
          <p:cNvPr id="406" name="Google Shape;406;p8"/>
          <p:cNvSpPr txBox="1"/>
          <p:nvPr/>
        </p:nvSpPr>
        <p:spPr>
          <a:xfrm>
            <a:off x="685800" y="960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1F1"/>
                </a:solidFill>
                <a:latin typeface="Cambria"/>
                <a:ea typeface="Cambria"/>
                <a:cs typeface="Cambria"/>
                <a:sym typeface="Cambria"/>
              </a:rPr>
              <a:t>What A Playbook Looks Like</a:t>
            </a: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960125" y="1495024"/>
            <a:ext cx="9646800" cy="4741200"/>
          </a:xfrm>
          <a:prstGeom prst="roundRect">
            <a:avLst>
              <a:gd fmla="val 3500" name="adj"/>
            </a:avLst>
          </a:prstGeom>
          <a:solidFill>
            <a:srgbClr val="2720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1536192" y="2093976"/>
            <a:ext cx="128016" cy="128016"/>
          </a:xfrm>
          <a:prstGeom prst="ellipse">
            <a:avLst/>
          </a:prstGeom>
          <a:solidFill>
            <a:srgbClr val="E05A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1773936" y="2093976"/>
            <a:ext cx="128016" cy="128016"/>
          </a:xfrm>
          <a:prstGeom prst="ellipse">
            <a:avLst/>
          </a:prstGeom>
          <a:solidFill>
            <a:srgbClr val="E0B4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2011680" y="2093976"/>
            <a:ext cx="128016" cy="128016"/>
          </a:xfrm>
          <a:prstGeom prst="ellipse">
            <a:avLst/>
          </a:prstGeom>
          <a:solidFill>
            <a:srgbClr val="5EB8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 txBox="1"/>
          <p:nvPr/>
        </p:nvSpPr>
        <p:spPr>
          <a:xfrm>
            <a:off x="960135" y="1677913"/>
            <a:ext cx="928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webservers.yml</a:t>
            </a:r>
            <a:endParaRPr/>
          </a:p>
        </p:txBody>
      </p:sp>
      <p:sp>
        <p:nvSpPr>
          <p:cNvPr id="412" name="Google Shape;412;p8"/>
          <p:cNvSpPr txBox="1"/>
          <p:nvPr/>
        </p:nvSpPr>
        <p:spPr>
          <a:xfrm>
            <a:off x="1371625" y="2303674"/>
            <a:ext cx="8823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name: </a:t>
            </a:r>
            <a:r>
              <a:rPr b="0" i="0" lang="en-US" sz="1500" u="none" cap="none" strike="noStrike">
                <a:solidFill>
                  <a:srgbClr val="F5F1F1"/>
                </a:solidFill>
                <a:latin typeface="Courier New"/>
                <a:ea typeface="Courier New"/>
                <a:cs typeface="Courier New"/>
                <a:sym typeface="Courier New"/>
              </a:rPr>
              <a:t>Set up web servers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hosts: </a:t>
            </a:r>
            <a:r>
              <a:rPr b="0" i="0" lang="en-US" sz="1500" u="none" cap="none" strike="noStrike">
                <a:solidFill>
                  <a:srgbClr val="F5F1F1"/>
                </a:solidFill>
                <a:latin typeface="Courier New"/>
                <a:ea typeface="Courier New"/>
                <a:cs typeface="Courier New"/>
                <a:sym typeface="Courier New"/>
              </a:rPr>
              <a:t>webservers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become: </a:t>
            </a:r>
            <a:r>
              <a:rPr b="0" i="0" lang="en-US" sz="1500" u="none" cap="none" strike="noStrike">
                <a:solidFill>
                  <a:srgbClr val="F5F1F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tasks: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0" i="0" lang="en-US" sz="15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name: </a:t>
            </a:r>
            <a:r>
              <a:rPr b="0" i="0" lang="en-US" sz="1500" u="none" cap="none" strike="noStrike">
                <a:solidFill>
                  <a:srgbClr val="F5F1F1"/>
                </a:solidFill>
                <a:latin typeface="Courier New"/>
                <a:ea typeface="Courier New"/>
                <a:cs typeface="Courier New"/>
                <a:sym typeface="Courier New"/>
              </a:rPr>
              <a:t>Install nginx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apt: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name: </a:t>
            </a:r>
            <a:r>
              <a:rPr b="0" i="0" lang="en-US" sz="1500" u="none" cap="none" strike="noStrike">
                <a:solidFill>
                  <a:srgbClr val="F5F1F1"/>
                </a:solidFill>
                <a:latin typeface="Courier New"/>
                <a:ea typeface="Courier New"/>
                <a:cs typeface="Courier New"/>
                <a:sym typeface="Courier New"/>
              </a:rPr>
              <a:t>nginx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state: </a:t>
            </a:r>
            <a:r>
              <a:rPr b="0" i="0" lang="en-US" sz="1500" u="none" cap="none" strike="noStrike">
                <a:solidFill>
                  <a:srgbClr val="F5F1F1"/>
                </a:solidFill>
                <a:latin typeface="Courier New"/>
                <a:ea typeface="Courier New"/>
                <a:cs typeface="Courier New"/>
                <a:sym typeface="Courier New"/>
              </a:rPr>
              <a:t>present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0" i="0" lang="en-US" sz="15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name: </a:t>
            </a:r>
            <a:r>
              <a:rPr b="0" i="0" lang="en-US" sz="1500" u="none" cap="none" strike="noStrike">
                <a:solidFill>
                  <a:srgbClr val="F5F1F1"/>
                </a:solidFill>
                <a:latin typeface="Courier New"/>
                <a:ea typeface="Courier New"/>
                <a:cs typeface="Courier New"/>
                <a:sym typeface="Courier New"/>
              </a:rPr>
              <a:t>Start nginx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service: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name: </a:t>
            </a:r>
            <a:r>
              <a:rPr b="0" i="0" lang="en-US" sz="1500" u="none" cap="none" strike="noStrike">
                <a:solidFill>
                  <a:srgbClr val="F5F1F1"/>
                </a:solidFill>
                <a:latin typeface="Courier New"/>
                <a:ea typeface="Courier New"/>
                <a:cs typeface="Courier New"/>
                <a:sym typeface="Courier New"/>
              </a:rPr>
              <a:t>nginx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0" i="0" lang="en-US" sz="150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state: </a:t>
            </a:r>
            <a:r>
              <a:rPr b="0" i="0" lang="en-US" sz="1500" u="none" cap="none" strike="noStrike">
                <a:solidFill>
                  <a:srgbClr val="F5F1F1"/>
                </a:solidFill>
                <a:latin typeface="Courier New"/>
                <a:ea typeface="Courier New"/>
                <a:cs typeface="Courier New"/>
                <a:sym typeface="Courier New"/>
              </a:rPr>
              <a:t>started</a:t>
            </a:r>
            <a:endParaRPr/>
          </a:p>
        </p:txBody>
      </p:sp>
      <p:sp>
        <p:nvSpPr>
          <p:cNvPr id="413" name="Google Shape;413;p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414" name="Google Shape;414;p8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9"/>
          <p:cNvCxnSpPr/>
          <p:nvPr/>
        </p:nvCxnSpPr>
        <p:spPr>
          <a:xfrm flipH="1" rot="10800000">
            <a:off x="704088" y="664905"/>
            <a:ext cx="63042" cy="52898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9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3" name="Google Shape;423;p9"/>
          <p:cNvCxnSpPr/>
          <p:nvPr/>
        </p:nvCxnSpPr>
        <p:spPr>
          <a:xfrm rot="10800000">
            <a:off x="626755" y="689657"/>
            <a:ext cx="77333" cy="28146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9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REAL-WORLD USES</a:t>
            </a:r>
            <a:endParaRPr/>
          </a:p>
        </p:txBody>
      </p:sp>
      <p:sp>
        <p:nvSpPr>
          <p:cNvPr id="426" name="Google Shape;426;p9"/>
          <p:cNvSpPr txBox="1"/>
          <p:nvPr/>
        </p:nvSpPr>
        <p:spPr>
          <a:xfrm>
            <a:off x="685800" y="96012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Where Ansible Is Used</a:t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1344168" y="2112264"/>
            <a:ext cx="804672" cy="80467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1505102" y="2273198"/>
            <a:ext cx="482803" cy="482803"/>
          </a:xfrm>
          <a:custGeom>
            <a:rect b="b" l="l" r="r" t="t"/>
            <a:pathLst>
              <a:path extrusionOk="0" h="120000" w="120000">
                <a:moveTo>
                  <a:pt x="85177" y="19133"/>
                </a:moveTo>
                <a:lnTo>
                  <a:pt x="94511" y="11300"/>
                </a:lnTo>
                <a:lnTo>
                  <a:pt x="101967" y="17557"/>
                </a:lnTo>
                <a:lnTo>
                  <a:pt x="95875" y="28109"/>
                </a:lnTo>
                <a:cubicBezTo>
                  <a:pt x="100207" y="32983"/>
                  <a:pt x="103501" y="38688"/>
                  <a:pt x="105555" y="44877"/>
                </a:cubicBezTo>
                <a:lnTo>
                  <a:pt x="117740" y="44877"/>
                </a:lnTo>
                <a:lnTo>
                  <a:pt x="119431" y="54463"/>
                </a:lnTo>
                <a:lnTo>
                  <a:pt x="107980" y="58630"/>
                </a:lnTo>
                <a:cubicBezTo>
                  <a:pt x="108167" y="65148"/>
                  <a:pt x="107023" y="71636"/>
                  <a:pt x="104618" y="77697"/>
                </a:cubicBezTo>
                <a:lnTo>
                  <a:pt x="113953" y="85530"/>
                </a:lnTo>
                <a:lnTo>
                  <a:pt x="109086" y="93960"/>
                </a:lnTo>
                <a:lnTo>
                  <a:pt x="97636" y="89792"/>
                </a:lnTo>
                <a:cubicBezTo>
                  <a:pt x="93588" y="94905"/>
                  <a:pt x="88542" y="99139"/>
                  <a:pt x="82804" y="102237"/>
                </a:cubicBezTo>
                <a:lnTo>
                  <a:pt x="84920" y="114237"/>
                </a:lnTo>
                <a:lnTo>
                  <a:pt x="75773" y="117566"/>
                </a:lnTo>
                <a:lnTo>
                  <a:pt x="69681" y="107014"/>
                </a:lnTo>
                <a:cubicBezTo>
                  <a:pt x="63294" y="108329"/>
                  <a:pt x="56706" y="108329"/>
                  <a:pt x="50319" y="107014"/>
                </a:cubicBezTo>
                <a:lnTo>
                  <a:pt x="44227" y="117566"/>
                </a:lnTo>
                <a:lnTo>
                  <a:pt x="35080" y="114237"/>
                </a:lnTo>
                <a:lnTo>
                  <a:pt x="37196" y="102237"/>
                </a:lnTo>
                <a:cubicBezTo>
                  <a:pt x="31458" y="99139"/>
                  <a:pt x="26412" y="94905"/>
                  <a:pt x="22364" y="89792"/>
                </a:cubicBezTo>
                <a:lnTo>
                  <a:pt x="10914" y="93960"/>
                </a:lnTo>
                <a:lnTo>
                  <a:pt x="6047" y="85530"/>
                </a:lnTo>
                <a:lnTo>
                  <a:pt x="15382" y="77697"/>
                </a:lnTo>
                <a:cubicBezTo>
                  <a:pt x="12977" y="71636"/>
                  <a:pt x="11833" y="65148"/>
                  <a:pt x="12020" y="58630"/>
                </a:cubicBezTo>
                <a:lnTo>
                  <a:pt x="569" y="54463"/>
                </a:lnTo>
                <a:lnTo>
                  <a:pt x="2260" y="44877"/>
                </a:lnTo>
                <a:lnTo>
                  <a:pt x="14445" y="44877"/>
                </a:lnTo>
                <a:cubicBezTo>
                  <a:pt x="16499" y="38688"/>
                  <a:pt x="19793" y="32983"/>
                  <a:pt x="24125" y="28109"/>
                </a:cubicBezTo>
                <a:lnTo>
                  <a:pt x="18033" y="17557"/>
                </a:lnTo>
                <a:lnTo>
                  <a:pt x="25489" y="11300"/>
                </a:lnTo>
                <a:lnTo>
                  <a:pt x="34823" y="19133"/>
                </a:lnTo>
                <a:cubicBezTo>
                  <a:pt x="40375" y="15712"/>
                  <a:pt x="46566" y="13459"/>
                  <a:pt x="53017" y="12511"/>
                </a:cubicBezTo>
                <a:lnTo>
                  <a:pt x="55133" y="511"/>
                </a:lnTo>
                <a:lnTo>
                  <a:pt x="64867" y="511"/>
                </a:lnTo>
                <a:lnTo>
                  <a:pt x="66983" y="12511"/>
                </a:lnTo>
                <a:cubicBezTo>
                  <a:pt x="73434" y="13459"/>
                  <a:pt x="79625" y="15712"/>
                  <a:pt x="85177" y="19133"/>
                </a:cubicBezTo>
                <a:close/>
              </a:path>
            </a:pathLst>
          </a:cu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685800" y="3099816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Configuration</a:t>
            </a:r>
            <a:endParaRPr/>
          </a:p>
        </p:txBody>
      </p:sp>
      <p:sp>
        <p:nvSpPr>
          <p:cNvPr id="430" name="Google Shape;430;p9"/>
          <p:cNvSpPr txBox="1"/>
          <p:nvPr/>
        </p:nvSpPr>
        <p:spPr>
          <a:xfrm>
            <a:off x="685800" y="3410712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Keep every server's setup identical.</a:t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3611879" y="2112264"/>
            <a:ext cx="804672" cy="80467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3726545" y="2377001"/>
            <a:ext cx="382219" cy="168981"/>
          </a:xfrm>
          <a:prstGeom prst="roundRect">
            <a:avLst>
              <a:gd fmla="val 30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3823106" y="2430109"/>
            <a:ext cx="382219" cy="168981"/>
          </a:xfrm>
          <a:prstGeom prst="roundRect">
            <a:avLst>
              <a:gd fmla="val 30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3919667" y="2483217"/>
            <a:ext cx="382219" cy="168981"/>
          </a:xfrm>
          <a:prstGeom prst="roundRect">
            <a:avLst>
              <a:gd fmla="val 30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9"/>
          <p:cNvSpPr txBox="1"/>
          <p:nvPr/>
        </p:nvSpPr>
        <p:spPr>
          <a:xfrm>
            <a:off x="2953512" y="3099816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App Deployment</a:t>
            </a:r>
            <a:endParaRPr/>
          </a:p>
        </p:txBody>
      </p:sp>
      <p:sp>
        <p:nvSpPr>
          <p:cNvPr id="436" name="Google Shape;436;p9"/>
          <p:cNvSpPr txBox="1"/>
          <p:nvPr/>
        </p:nvSpPr>
        <p:spPr>
          <a:xfrm>
            <a:off x="2953512" y="3410712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Ship new releases without manual steps.</a:t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5879592" y="2112264"/>
            <a:ext cx="804672" cy="80467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6030468" y="2343607"/>
            <a:ext cx="502920" cy="341985"/>
          </a:xfrm>
          <a:prstGeom prst="cloud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9"/>
          <p:cNvSpPr txBox="1"/>
          <p:nvPr/>
        </p:nvSpPr>
        <p:spPr>
          <a:xfrm>
            <a:off x="5221224" y="3099816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Provisioning</a:t>
            </a:r>
            <a:endParaRPr/>
          </a:p>
        </p:txBody>
      </p:sp>
      <p:sp>
        <p:nvSpPr>
          <p:cNvPr id="440" name="Google Shape;440;p9"/>
          <p:cNvSpPr txBox="1"/>
          <p:nvPr/>
        </p:nvSpPr>
        <p:spPr>
          <a:xfrm>
            <a:off x="5221224" y="3410712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Spin up new servers on demand.</a:t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8147304" y="2112264"/>
            <a:ext cx="804672" cy="80467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/>
          <p:nvPr/>
        </p:nvSpPr>
        <p:spPr>
          <a:xfrm rot="10800000">
            <a:off x="8358530" y="2303373"/>
            <a:ext cx="382219" cy="422452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8515240" y="2438558"/>
            <a:ext cx="68799" cy="126735"/>
          </a:xfrm>
          <a:prstGeom prst="roundRect">
            <a:avLst>
              <a:gd fmla="val 30000" name="adj"/>
            </a:avLst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 txBox="1"/>
          <p:nvPr/>
        </p:nvSpPr>
        <p:spPr>
          <a:xfrm>
            <a:off x="7488936" y="3099816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Compliance</a:t>
            </a:r>
            <a:endParaRPr/>
          </a:p>
        </p:txBody>
      </p:sp>
      <p:sp>
        <p:nvSpPr>
          <p:cNvPr id="445" name="Google Shape;445;p9"/>
          <p:cNvSpPr txBox="1"/>
          <p:nvPr/>
        </p:nvSpPr>
        <p:spPr>
          <a:xfrm>
            <a:off x="7488936" y="3410712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Apply patches, lock down settings.</a:t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10415016" y="2112264"/>
            <a:ext cx="804672" cy="804672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10761024" y="2458272"/>
            <a:ext cx="112654" cy="112654"/>
          </a:xfrm>
          <a:prstGeom prst="ellipse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" name="Google Shape;448;p9"/>
          <p:cNvCxnSpPr/>
          <p:nvPr/>
        </p:nvCxnSpPr>
        <p:spPr>
          <a:xfrm rot="10800000">
            <a:off x="10817352" y="2265151"/>
            <a:ext cx="0" cy="249449"/>
          </a:xfrm>
          <a:prstGeom prst="straightConnector1">
            <a:avLst/>
          </a:prstGeom>
          <a:noFill/>
          <a:ln cap="flat" cmpd="sng" w="222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9"/>
          <p:cNvSpPr/>
          <p:nvPr/>
        </p:nvSpPr>
        <p:spPr>
          <a:xfrm>
            <a:off x="10781141" y="2228941"/>
            <a:ext cx="72420" cy="72420"/>
          </a:xfrm>
          <a:prstGeom prst="ellipse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9"/>
          <p:cNvCxnSpPr/>
          <p:nvPr/>
        </p:nvCxnSpPr>
        <p:spPr>
          <a:xfrm>
            <a:off x="10817352" y="2514600"/>
            <a:ext cx="216028" cy="124724"/>
          </a:xfrm>
          <a:prstGeom prst="straightConnector1">
            <a:avLst/>
          </a:prstGeom>
          <a:noFill/>
          <a:ln cap="flat" cmpd="sng" w="222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9"/>
          <p:cNvSpPr/>
          <p:nvPr/>
        </p:nvSpPr>
        <p:spPr>
          <a:xfrm>
            <a:off x="10997170" y="2603113"/>
            <a:ext cx="72420" cy="72420"/>
          </a:xfrm>
          <a:prstGeom prst="ellipse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2" name="Google Shape;452;p9"/>
          <p:cNvCxnSpPr/>
          <p:nvPr/>
        </p:nvCxnSpPr>
        <p:spPr>
          <a:xfrm flipH="1">
            <a:off x="10601323" y="2514600"/>
            <a:ext cx="216029" cy="124724"/>
          </a:xfrm>
          <a:prstGeom prst="straightConnector1">
            <a:avLst/>
          </a:prstGeom>
          <a:noFill/>
          <a:ln cap="flat" cmpd="sng" w="222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p9"/>
          <p:cNvSpPr/>
          <p:nvPr/>
        </p:nvSpPr>
        <p:spPr>
          <a:xfrm>
            <a:off x="10565113" y="2603113"/>
            <a:ext cx="72420" cy="72420"/>
          </a:xfrm>
          <a:prstGeom prst="ellipse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9"/>
          <p:cNvSpPr txBox="1"/>
          <p:nvPr/>
        </p:nvSpPr>
        <p:spPr>
          <a:xfrm>
            <a:off x="9756648" y="3099816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Orchestration</a:t>
            </a:r>
            <a:endParaRPr/>
          </a:p>
        </p:txBody>
      </p:sp>
      <p:sp>
        <p:nvSpPr>
          <p:cNvPr id="455" name="Google Shape;455;p9"/>
          <p:cNvSpPr txBox="1"/>
          <p:nvPr/>
        </p:nvSpPr>
        <p:spPr>
          <a:xfrm>
            <a:off x="9756648" y="3410712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Coordinate multi-step rollouts in order.</a:t>
            </a:r>
            <a:endParaRPr/>
          </a:p>
        </p:txBody>
      </p:sp>
      <p:sp>
        <p:nvSpPr>
          <p:cNvPr id="456" name="Google Shape;456;p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457" name="Google Shape;457;p9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10"/>
          <p:cNvCxnSpPr/>
          <p:nvPr/>
        </p:nvCxnSpPr>
        <p:spPr>
          <a:xfrm flipH="1" rot="10800000">
            <a:off x="704088" y="664905"/>
            <a:ext cx="63042" cy="52898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10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p10"/>
          <p:cNvCxnSpPr/>
          <p:nvPr/>
        </p:nvCxnSpPr>
        <p:spPr>
          <a:xfrm rot="10800000">
            <a:off x="626755" y="689657"/>
            <a:ext cx="77333" cy="28146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10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BEFORE YOU BEGIN</a:t>
            </a:r>
            <a:endParaRPr/>
          </a:p>
        </p:txBody>
      </p:sp>
      <p:sp>
        <p:nvSpPr>
          <p:cNvPr id="469" name="Google Shape;469;p10"/>
          <p:cNvSpPr txBox="1"/>
          <p:nvPr/>
        </p:nvSpPr>
        <p:spPr>
          <a:xfrm>
            <a:off x="685800" y="96012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What You'll Need First</a:t>
            </a:r>
            <a:endParaRPr/>
          </a:p>
        </p:txBody>
      </p:sp>
      <p:sp>
        <p:nvSpPr>
          <p:cNvPr id="470" name="Google Shape;470;p10"/>
          <p:cNvSpPr/>
          <p:nvPr/>
        </p:nvSpPr>
        <p:spPr>
          <a:xfrm>
            <a:off x="685800" y="1965960"/>
            <a:ext cx="5166360" cy="3657600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987552" y="2221991"/>
            <a:ext cx="768096" cy="76809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1150772" y="2442819"/>
            <a:ext cx="441655" cy="326440"/>
          </a:xfrm>
          <a:prstGeom prst="roundRect">
            <a:avLst>
              <a:gd fmla="val 12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1194937" y="2488521"/>
            <a:ext cx="26499" cy="26499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1243519" y="2488521"/>
            <a:ext cx="26499" cy="26499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1292102" y="2488521"/>
            <a:ext cx="26499" cy="26499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10"/>
          <p:cNvCxnSpPr/>
          <p:nvPr/>
        </p:nvCxnSpPr>
        <p:spPr>
          <a:xfrm>
            <a:off x="1221437" y="2645212"/>
            <a:ext cx="79498" cy="52231"/>
          </a:xfrm>
          <a:prstGeom prst="straightConnector1">
            <a:avLst/>
          </a:prstGeom>
          <a:noFill/>
          <a:ln cap="flat" cmpd="sng" w="22225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10"/>
          <p:cNvCxnSpPr/>
          <p:nvPr/>
        </p:nvCxnSpPr>
        <p:spPr>
          <a:xfrm flipH="1" rot="10800000">
            <a:off x="1221437" y="2645212"/>
            <a:ext cx="79498" cy="52231"/>
          </a:xfrm>
          <a:prstGeom prst="straightConnector1">
            <a:avLst/>
          </a:prstGeom>
          <a:noFill/>
          <a:ln cap="flat" cmpd="sng" w="22225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10"/>
          <p:cNvCxnSpPr/>
          <p:nvPr/>
        </p:nvCxnSpPr>
        <p:spPr>
          <a:xfrm>
            <a:off x="1327434" y="2703972"/>
            <a:ext cx="79498" cy="0"/>
          </a:xfrm>
          <a:prstGeom prst="straightConnector1">
            <a:avLst/>
          </a:prstGeom>
          <a:noFill/>
          <a:ln cap="flat" cmpd="sng" w="22225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10"/>
          <p:cNvSpPr txBox="1"/>
          <p:nvPr/>
        </p:nvSpPr>
        <p:spPr>
          <a:xfrm>
            <a:off x="1920240" y="2350008"/>
            <a:ext cx="3703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ON YOUR CONTROL NODE</a:t>
            </a: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1005840" y="3236976"/>
            <a:ext cx="274320" cy="27432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10"/>
          <p:cNvCxnSpPr/>
          <p:nvPr/>
        </p:nvCxnSpPr>
        <p:spPr>
          <a:xfrm>
            <a:off x="1085392" y="3376879"/>
            <a:ext cx="46635" cy="49377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10"/>
          <p:cNvCxnSpPr/>
          <p:nvPr/>
        </p:nvCxnSpPr>
        <p:spPr>
          <a:xfrm flipH="1" rot="10800000">
            <a:off x="1132027" y="3330244"/>
            <a:ext cx="76809" cy="96012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p10"/>
          <p:cNvSpPr txBox="1"/>
          <p:nvPr/>
        </p:nvSpPr>
        <p:spPr>
          <a:xfrm>
            <a:off x="1463040" y="324612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Python 3 installed</a:t>
            </a:r>
            <a:endParaRPr/>
          </a:p>
        </p:txBody>
      </p:sp>
      <p:sp>
        <p:nvSpPr>
          <p:cNvPr id="484" name="Google Shape;484;p10"/>
          <p:cNvSpPr/>
          <p:nvPr/>
        </p:nvSpPr>
        <p:spPr>
          <a:xfrm>
            <a:off x="1005840" y="3950207"/>
            <a:ext cx="274320" cy="27432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10"/>
          <p:cNvCxnSpPr/>
          <p:nvPr/>
        </p:nvCxnSpPr>
        <p:spPr>
          <a:xfrm>
            <a:off x="1085392" y="4090111"/>
            <a:ext cx="46635" cy="49377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10"/>
          <p:cNvCxnSpPr/>
          <p:nvPr/>
        </p:nvCxnSpPr>
        <p:spPr>
          <a:xfrm flipH="1" rot="10800000">
            <a:off x="1132027" y="4043476"/>
            <a:ext cx="76809" cy="96012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10"/>
          <p:cNvSpPr txBox="1"/>
          <p:nvPr/>
        </p:nvSpPr>
        <p:spPr>
          <a:xfrm>
            <a:off x="1463040" y="395935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Ansible installed  —  pip install ansible</a:t>
            </a:r>
            <a:endParaRPr/>
          </a:p>
        </p:txBody>
      </p:sp>
      <p:sp>
        <p:nvSpPr>
          <p:cNvPr id="488" name="Google Shape;488;p10"/>
          <p:cNvSpPr/>
          <p:nvPr/>
        </p:nvSpPr>
        <p:spPr>
          <a:xfrm>
            <a:off x="1005840" y="4663440"/>
            <a:ext cx="274320" cy="27432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10"/>
          <p:cNvCxnSpPr/>
          <p:nvPr/>
        </p:nvCxnSpPr>
        <p:spPr>
          <a:xfrm>
            <a:off x="1085392" y="4803343"/>
            <a:ext cx="46635" cy="49377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10"/>
          <p:cNvCxnSpPr/>
          <p:nvPr/>
        </p:nvCxnSpPr>
        <p:spPr>
          <a:xfrm flipH="1" rot="10800000">
            <a:off x="1132027" y="4756708"/>
            <a:ext cx="76809" cy="96012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10"/>
          <p:cNvSpPr txBox="1"/>
          <p:nvPr/>
        </p:nvSpPr>
        <p:spPr>
          <a:xfrm>
            <a:off x="1463040" y="4672584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SSH access set up to every server you'll manage</a:t>
            </a:r>
            <a:endParaRPr/>
          </a:p>
        </p:txBody>
      </p:sp>
      <p:sp>
        <p:nvSpPr>
          <p:cNvPr id="492" name="Google Shape;492;p10"/>
          <p:cNvSpPr/>
          <p:nvPr/>
        </p:nvSpPr>
        <p:spPr>
          <a:xfrm>
            <a:off x="6309360" y="1965960"/>
            <a:ext cx="5166360" cy="3657600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6629400" y="2240279"/>
            <a:ext cx="731520" cy="731520"/>
          </a:xfrm>
          <a:prstGeom prst="ellipse">
            <a:avLst/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6803136" y="2492654"/>
            <a:ext cx="384048" cy="226771"/>
          </a:xfrm>
          <a:prstGeom prst="roundRect">
            <a:avLst>
              <a:gd fmla="val 18000" name="adj"/>
            </a:avLst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6849221" y="2556150"/>
            <a:ext cx="192024" cy="22677"/>
          </a:xfrm>
          <a:prstGeom prst="rect">
            <a:avLst/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6849221" y="2655929"/>
            <a:ext cx="192024" cy="22677"/>
          </a:xfrm>
          <a:prstGeom prst="rect">
            <a:avLst/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7102693" y="2542544"/>
            <a:ext cx="38404" cy="38404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 txBox="1"/>
          <p:nvPr/>
        </p:nvSpPr>
        <p:spPr>
          <a:xfrm>
            <a:off x="7543800" y="2350008"/>
            <a:ext cx="3703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1517"/>
                </a:solidFill>
                <a:latin typeface="Courier New"/>
                <a:ea typeface="Courier New"/>
                <a:cs typeface="Courier New"/>
                <a:sym typeface="Courier New"/>
              </a:rPr>
              <a:t>ON EACH MANAGED NODE</a:t>
            </a: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6629400" y="3236976"/>
            <a:ext cx="274320" cy="27432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10"/>
          <p:cNvCxnSpPr/>
          <p:nvPr/>
        </p:nvCxnSpPr>
        <p:spPr>
          <a:xfrm>
            <a:off x="6708952" y="3376879"/>
            <a:ext cx="46635" cy="49377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10"/>
          <p:cNvCxnSpPr/>
          <p:nvPr/>
        </p:nvCxnSpPr>
        <p:spPr>
          <a:xfrm flipH="1" rot="10800000">
            <a:off x="6755587" y="3330244"/>
            <a:ext cx="76809" cy="96012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10"/>
          <p:cNvSpPr txBox="1"/>
          <p:nvPr/>
        </p:nvSpPr>
        <p:spPr>
          <a:xfrm>
            <a:off x="7086600" y="324612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Python installed  —  already there on most Linux distros</a:t>
            </a:r>
            <a:endParaRPr/>
          </a:p>
        </p:txBody>
      </p:sp>
      <p:sp>
        <p:nvSpPr>
          <p:cNvPr id="503" name="Google Shape;503;p10"/>
          <p:cNvSpPr/>
          <p:nvPr/>
        </p:nvSpPr>
        <p:spPr>
          <a:xfrm>
            <a:off x="6629400" y="3950207"/>
            <a:ext cx="274320" cy="27432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10"/>
          <p:cNvCxnSpPr/>
          <p:nvPr/>
        </p:nvCxnSpPr>
        <p:spPr>
          <a:xfrm>
            <a:off x="6708952" y="4090111"/>
            <a:ext cx="46635" cy="49377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6755587" y="4043476"/>
            <a:ext cx="76809" cy="96012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10"/>
          <p:cNvSpPr txBox="1"/>
          <p:nvPr/>
        </p:nvSpPr>
        <p:spPr>
          <a:xfrm>
            <a:off x="7086600" y="395935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An SSH server running</a:t>
            </a:r>
            <a:endParaRPr/>
          </a:p>
        </p:txBody>
      </p:sp>
      <p:sp>
        <p:nvSpPr>
          <p:cNvPr id="507" name="Google Shape;507;p10"/>
          <p:cNvSpPr/>
          <p:nvPr/>
        </p:nvSpPr>
        <p:spPr>
          <a:xfrm>
            <a:off x="6629400" y="4663440"/>
            <a:ext cx="274320" cy="27432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10"/>
          <p:cNvCxnSpPr/>
          <p:nvPr/>
        </p:nvCxnSpPr>
        <p:spPr>
          <a:xfrm>
            <a:off x="6708952" y="4803343"/>
            <a:ext cx="46635" cy="49377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10"/>
          <p:cNvCxnSpPr/>
          <p:nvPr/>
        </p:nvCxnSpPr>
        <p:spPr>
          <a:xfrm flipH="1" rot="10800000">
            <a:off x="6755587" y="4756708"/>
            <a:ext cx="76809" cy="96012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0" name="Google Shape;510;p10"/>
          <p:cNvSpPr txBox="1"/>
          <p:nvPr/>
        </p:nvSpPr>
        <p:spPr>
          <a:xfrm>
            <a:off x="7086600" y="4672584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A user account Ansible can log in as</a:t>
            </a:r>
            <a:endParaRPr/>
          </a:p>
        </p:txBody>
      </p:sp>
      <p:sp>
        <p:nvSpPr>
          <p:cNvPr id="511" name="Google Shape;511;p10"/>
          <p:cNvSpPr/>
          <p:nvPr/>
        </p:nvSpPr>
        <p:spPr>
          <a:xfrm>
            <a:off x="685800" y="5788152"/>
            <a:ext cx="10835640" cy="457200"/>
          </a:xfrm>
          <a:prstGeom prst="roundRect">
            <a:avLst>
              <a:gd fmla="val 6000" name="adj"/>
            </a:avLst>
          </a:prstGeom>
          <a:solidFill>
            <a:srgbClr val="F3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960120" y="5833872"/>
            <a:ext cx="365760" cy="365760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10"/>
          <p:cNvCxnSpPr/>
          <p:nvPr/>
        </p:nvCxnSpPr>
        <p:spPr>
          <a:xfrm>
            <a:off x="1066190" y="6020409"/>
            <a:ext cx="62179" cy="65837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10"/>
          <p:cNvCxnSpPr/>
          <p:nvPr/>
        </p:nvCxnSpPr>
        <p:spPr>
          <a:xfrm flipH="1" rot="10800000">
            <a:off x="1128369" y="5958230"/>
            <a:ext cx="102413" cy="128016"/>
          </a:xfrm>
          <a:prstGeom prst="straightConnector1">
            <a:avLst/>
          </a:prstGeom>
          <a:noFill/>
          <a:ln cap="flat" cmpd="sng" w="53325">
            <a:solidFill>
              <a:srgbClr val="FAF8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10"/>
          <p:cNvSpPr txBox="1"/>
          <p:nvPr/>
        </p:nvSpPr>
        <p:spPr>
          <a:xfrm>
            <a:off x="1508760" y="5788152"/>
            <a:ext cx="9784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C1517"/>
                </a:solidFill>
                <a:latin typeface="Calibri"/>
                <a:ea typeface="Calibri"/>
                <a:cs typeface="Calibri"/>
                <a:sym typeface="Calibri"/>
              </a:rPr>
              <a:t>No special agent, no extra daemon — </a:t>
            </a:r>
            <a:r>
              <a:rPr b="0" i="1" lang="en-US" sz="1250" u="none" cap="none" strike="noStrike">
                <a:solidFill>
                  <a:srgbClr val="5A5254"/>
                </a:solidFill>
                <a:latin typeface="Calibri"/>
                <a:ea typeface="Calibri"/>
                <a:cs typeface="Calibri"/>
                <a:sym typeface="Calibri"/>
              </a:rPr>
              <a:t>if you can SSH in, Ansible can manage it.</a:t>
            </a:r>
            <a:endParaRPr/>
          </a:p>
        </p:txBody>
      </p:sp>
      <p:sp>
        <p:nvSpPr>
          <p:cNvPr id="516" name="Google Shape;516;p1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517" name="Google Shape;517;p10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11"/>
          <p:cNvCxnSpPr/>
          <p:nvPr/>
        </p:nvCxnSpPr>
        <p:spPr>
          <a:xfrm flipH="1" rot="10800000">
            <a:off x="704088" y="664905"/>
            <a:ext cx="63042" cy="52898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5" name="Google Shape;525;p11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11"/>
          <p:cNvCxnSpPr/>
          <p:nvPr/>
        </p:nvCxnSpPr>
        <p:spPr>
          <a:xfrm rot="10800000">
            <a:off x="626755" y="689657"/>
            <a:ext cx="77333" cy="28146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11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1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YOUR FIRST STEPS</a:t>
            </a:r>
            <a:endParaRPr/>
          </a:p>
        </p:txBody>
      </p:sp>
      <p:sp>
        <p:nvSpPr>
          <p:cNvPr id="529" name="Google Shape;529;p11"/>
          <p:cNvSpPr txBox="1"/>
          <p:nvPr/>
        </p:nvSpPr>
        <p:spPr>
          <a:xfrm>
            <a:off x="685800" y="96012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Getting Started Is Simple</a:t>
            </a:r>
            <a:endParaRPr/>
          </a:p>
        </p:txBody>
      </p:sp>
      <p:cxnSp>
        <p:nvCxnSpPr>
          <p:cNvPr id="530" name="Google Shape;530;p11"/>
          <p:cNvCxnSpPr/>
          <p:nvPr/>
        </p:nvCxnSpPr>
        <p:spPr>
          <a:xfrm>
            <a:off x="2295144" y="3520440"/>
            <a:ext cx="1810512" cy="0"/>
          </a:xfrm>
          <a:prstGeom prst="straightConnector1">
            <a:avLst/>
          </a:prstGeom>
          <a:noFill/>
          <a:ln cap="flat" cmpd="sng" w="27925">
            <a:solidFill>
              <a:srgbClr val="E4DDD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1" name="Google Shape;531;p11"/>
          <p:cNvCxnSpPr/>
          <p:nvPr/>
        </p:nvCxnSpPr>
        <p:spPr>
          <a:xfrm>
            <a:off x="4946904" y="3520440"/>
            <a:ext cx="1810512" cy="0"/>
          </a:xfrm>
          <a:prstGeom prst="straightConnector1">
            <a:avLst/>
          </a:prstGeom>
          <a:noFill/>
          <a:ln cap="flat" cmpd="sng" w="27925">
            <a:solidFill>
              <a:srgbClr val="E4DDD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2" name="Google Shape;532;p11"/>
          <p:cNvCxnSpPr/>
          <p:nvPr/>
        </p:nvCxnSpPr>
        <p:spPr>
          <a:xfrm>
            <a:off x="7598664" y="3520440"/>
            <a:ext cx="1810512" cy="0"/>
          </a:xfrm>
          <a:prstGeom prst="straightConnector1">
            <a:avLst/>
          </a:prstGeom>
          <a:noFill/>
          <a:ln cap="flat" cmpd="sng" w="27925">
            <a:solidFill>
              <a:srgbClr val="E4DDD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3" name="Google Shape;533;p11"/>
          <p:cNvSpPr/>
          <p:nvPr/>
        </p:nvSpPr>
        <p:spPr>
          <a:xfrm>
            <a:off x="1453895" y="3099816"/>
            <a:ext cx="841248" cy="841248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"/>
          <p:cNvSpPr txBox="1"/>
          <p:nvPr/>
        </p:nvSpPr>
        <p:spPr>
          <a:xfrm>
            <a:off x="1453895" y="3355848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F8F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535" name="Google Shape;535;p11"/>
          <p:cNvSpPr txBox="1"/>
          <p:nvPr/>
        </p:nvSpPr>
        <p:spPr>
          <a:xfrm>
            <a:off x="868679" y="41422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Install</a:t>
            </a:r>
            <a:endParaRPr/>
          </a:p>
        </p:txBody>
      </p:sp>
      <p:sp>
        <p:nvSpPr>
          <p:cNvPr id="536" name="Google Shape;536;p11"/>
          <p:cNvSpPr txBox="1"/>
          <p:nvPr/>
        </p:nvSpPr>
        <p:spPr>
          <a:xfrm>
            <a:off x="685799" y="450799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ansible</a:t>
            </a:r>
            <a:endParaRPr/>
          </a:p>
        </p:txBody>
      </p:sp>
      <p:sp>
        <p:nvSpPr>
          <p:cNvPr id="537" name="Google Shape;537;p11"/>
          <p:cNvSpPr/>
          <p:nvPr/>
        </p:nvSpPr>
        <p:spPr>
          <a:xfrm>
            <a:off x="4105656" y="3099816"/>
            <a:ext cx="841248" cy="841248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1"/>
          <p:cNvSpPr txBox="1"/>
          <p:nvPr/>
        </p:nvSpPr>
        <p:spPr>
          <a:xfrm>
            <a:off x="4105656" y="3355848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F8F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539" name="Google Shape;539;p11"/>
          <p:cNvSpPr txBox="1"/>
          <p:nvPr/>
        </p:nvSpPr>
        <p:spPr>
          <a:xfrm>
            <a:off x="3520440" y="41422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Inventory</a:t>
            </a:r>
            <a:endParaRPr/>
          </a:p>
        </p:txBody>
      </p:sp>
      <p:sp>
        <p:nvSpPr>
          <p:cNvPr id="540" name="Google Shape;540;p11"/>
          <p:cNvSpPr txBox="1"/>
          <p:nvPr/>
        </p:nvSpPr>
        <p:spPr>
          <a:xfrm>
            <a:off x="3337560" y="450799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list your servers</a:t>
            </a: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6757416" y="3099816"/>
            <a:ext cx="841248" cy="841248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1"/>
          <p:cNvSpPr txBox="1"/>
          <p:nvPr/>
        </p:nvSpPr>
        <p:spPr>
          <a:xfrm>
            <a:off x="6757416" y="3355848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F8F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543" name="Google Shape;543;p11"/>
          <p:cNvSpPr txBox="1"/>
          <p:nvPr/>
        </p:nvSpPr>
        <p:spPr>
          <a:xfrm>
            <a:off x="6172200" y="41422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Playbook</a:t>
            </a:r>
            <a:endParaRPr/>
          </a:p>
        </p:txBody>
      </p:sp>
      <p:sp>
        <p:nvSpPr>
          <p:cNvPr id="544" name="Google Shape;544;p11"/>
          <p:cNvSpPr txBox="1"/>
          <p:nvPr/>
        </p:nvSpPr>
        <p:spPr>
          <a:xfrm>
            <a:off x="5989320" y="450799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write it in YAML</a:t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9409176" y="3099816"/>
            <a:ext cx="841248" cy="841248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 txBox="1"/>
          <p:nvPr/>
        </p:nvSpPr>
        <p:spPr>
          <a:xfrm>
            <a:off x="9409176" y="3355848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F8F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/>
          </a:p>
        </p:txBody>
      </p:sp>
      <p:sp>
        <p:nvSpPr>
          <p:cNvPr id="547" name="Google Shape;547;p11"/>
          <p:cNvSpPr txBox="1"/>
          <p:nvPr/>
        </p:nvSpPr>
        <p:spPr>
          <a:xfrm>
            <a:off x="8823960" y="41422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517"/>
                </a:solidFill>
                <a:latin typeface="Cambria"/>
                <a:ea typeface="Cambria"/>
                <a:cs typeface="Cambria"/>
                <a:sym typeface="Cambria"/>
              </a:rPr>
              <a:t>Run</a:t>
            </a:r>
            <a:endParaRPr/>
          </a:p>
        </p:txBody>
      </p:sp>
      <p:sp>
        <p:nvSpPr>
          <p:cNvPr id="548" name="Google Shape;548;p11"/>
          <p:cNvSpPr txBox="1"/>
          <p:nvPr/>
        </p:nvSpPr>
        <p:spPr>
          <a:xfrm>
            <a:off x="8641080" y="450799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ansible-playbook site.yml</a:t>
            </a:r>
            <a:endParaRPr/>
          </a:p>
        </p:txBody>
      </p:sp>
      <p:sp>
        <p:nvSpPr>
          <p:cNvPr id="549" name="Google Shape;549;p1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ANSIBLE // BEGINNER'S GUIDE</a:t>
            </a:r>
            <a:endParaRPr/>
          </a:p>
        </p:txBody>
      </p:sp>
      <p:sp>
        <p:nvSpPr>
          <p:cNvPr id="550" name="Google Shape;550;p11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254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815644" y="82936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12"/>
          <p:cNvCxnSpPr/>
          <p:nvPr/>
        </p:nvCxnSpPr>
        <p:spPr>
          <a:xfrm flipH="1" rot="10800000">
            <a:off x="841248" y="802065"/>
            <a:ext cx="63042" cy="52899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12"/>
          <p:cNvSpPr/>
          <p:nvPr/>
        </p:nvSpPr>
        <p:spPr>
          <a:xfrm>
            <a:off x="886002" y="78377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p12"/>
          <p:cNvCxnSpPr/>
          <p:nvPr/>
        </p:nvCxnSpPr>
        <p:spPr>
          <a:xfrm rot="10800000">
            <a:off x="763915" y="826817"/>
            <a:ext cx="77333" cy="28147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12"/>
          <p:cNvSpPr/>
          <p:nvPr/>
        </p:nvSpPr>
        <p:spPr>
          <a:xfrm>
            <a:off x="745627" y="80852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 txBox="1"/>
          <p:nvPr/>
        </p:nvSpPr>
        <p:spPr>
          <a:xfrm>
            <a:off x="1097280" y="777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10012"/>
                </a:solidFill>
                <a:latin typeface="Courier New"/>
                <a:ea typeface="Courier New"/>
                <a:cs typeface="Courier New"/>
                <a:sym typeface="Courier New"/>
              </a:rPr>
              <a:t>KEY TAKEAWAYS</a:t>
            </a:r>
            <a:endParaRPr/>
          </a:p>
        </p:txBody>
      </p:sp>
      <p:sp>
        <p:nvSpPr>
          <p:cNvPr id="562" name="Google Shape;562;p12"/>
          <p:cNvSpPr txBox="1"/>
          <p:nvPr/>
        </p:nvSpPr>
        <p:spPr>
          <a:xfrm>
            <a:off x="777240" y="1965960"/>
            <a:ext cx="10607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5F1F1"/>
                </a:solidFill>
                <a:latin typeface="Cambria"/>
                <a:ea typeface="Cambria"/>
                <a:cs typeface="Cambria"/>
                <a:sym typeface="Cambria"/>
              </a:rPr>
              <a:t>Stop repeating yourself.</a:t>
            </a:r>
            <a:endParaRPr/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D10012"/>
                </a:solidFill>
                <a:latin typeface="Cambria"/>
                <a:ea typeface="Cambria"/>
                <a:cs typeface="Cambria"/>
                <a:sym typeface="Cambria"/>
              </a:rPr>
              <a:t>Start automating.</a:t>
            </a:r>
            <a:endParaRPr/>
          </a:p>
        </p:txBody>
      </p:sp>
      <p:sp>
        <p:nvSpPr>
          <p:cNvPr id="563" name="Google Shape;563;p12"/>
          <p:cNvSpPr txBox="1"/>
          <p:nvPr/>
        </p:nvSpPr>
        <p:spPr>
          <a:xfrm>
            <a:off x="822960" y="44348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AGENTLESS</a:t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2251252" y="455554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5" name="Google Shape;565;p12"/>
          <p:cNvCxnSpPr/>
          <p:nvPr/>
        </p:nvCxnSpPr>
        <p:spPr>
          <a:xfrm flipH="1" rot="10800000">
            <a:off x="2276856" y="4516489"/>
            <a:ext cx="77051" cy="64655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6" name="Google Shape;566;p12"/>
          <p:cNvSpPr/>
          <p:nvPr/>
        </p:nvSpPr>
        <p:spPr>
          <a:xfrm>
            <a:off x="2335619" y="4498201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7" name="Google Shape;567;p12"/>
          <p:cNvCxnSpPr/>
          <p:nvPr/>
        </p:nvCxnSpPr>
        <p:spPr>
          <a:xfrm rot="10800000">
            <a:off x="2182337" y="4546742"/>
            <a:ext cx="94519" cy="34402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8" name="Google Shape;568;p12"/>
          <p:cNvSpPr/>
          <p:nvPr/>
        </p:nvSpPr>
        <p:spPr>
          <a:xfrm>
            <a:off x="2164049" y="4528454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 txBox="1"/>
          <p:nvPr/>
        </p:nvSpPr>
        <p:spPr>
          <a:xfrm>
            <a:off x="2825496" y="44348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SIMPLE</a:t>
            </a:r>
            <a:endParaRPr/>
          </a:p>
        </p:txBody>
      </p:sp>
      <p:sp>
        <p:nvSpPr>
          <p:cNvPr id="570" name="Google Shape;570;p12"/>
          <p:cNvSpPr/>
          <p:nvPr/>
        </p:nvSpPr>
        <p:spPr>
          <a:xfrm>
            <a:off x="3952036" y="455554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1" name="Google Shape;571;p12"/>
          <p:cNvCxnSpPr/>
          <p:nvPr/>
        </p:nvCxnSpPr>
        <p:spPr>
          <a:xfrm flipH="1" rot="10800000">
            <a:off x="3977639" y="4516489"/>
            <a:ext cx="77052" cy="64655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12"/>
          <p:cNvSpPr/>
          <p:nvPr/>
        </p:nvSpPr>
        <p:spPr>
          <a:xfrm>
            <a:off x="4036403" y="4498201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3" name="Google Shape;573;p12"/>
          <p:cNvCxnSpPr/>
          <p:nvPr/>
        </p:nvCxnSpPr>
        <p:spPr>
          <a:xfrm rot="10800000">
            <a:off x="3883121" y="4546742"/>
            <a:ext cx="94518" cy="34402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4" name="Google Shape;574;p12"/>
          <p:cNvSpPr/>
          <p:nvPr/>
        </p:nvSpPr>
        <p:spPr>
          <a:xfrm>
            <a:off x="3864833" y="4528454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2"/>
          <p:cNvSpPr txBox="1"/>
          <p:nvPr/>
        </p:nvSpPr>
        <p:spPr>
          <a:xfrm>
            <a:off x="4526279" y="44348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CONSISTENT</a:t>
            </a:r>
            <a:endParaRPr/>
          </a:p>
        </p:txBody>
      </p:sp>
      <p:sp>
        <p:nvSpPr>
          <p:cNvPr id="576" name="Google Shape;576;p12"/>
          <p:cNvSpPr/>
          <p:nvPr/>
        </p:nvSpPr>
        <p:spPr>
          <a:xfrm>
            <a:off x="6055156" y="455554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" name="Google Shape;577;p12"/>
          <p:cNvCxnSpPr/>
          <p:nvPr/>
        </p:nvCxnSpPr>
        <p:spPr>
          <a:xfrm flipH="1" rot="10800000">
            <a:off x="6080759" y="4516489"/>
            <a:ext cx="77052" cy="64655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8" name="Google Shape;578;p12"/>
          <p:cNvSpPr/>
          <p:nvPr/>
        </p:nvSpPr>
        <p:spPr>
          <a:xfrm>
            <a:off x="6139523" y="4498201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9" name="Google Shape;579;p12"/>
          <p:cNvCxnSpPr/>
          <p:nvPr/>
        </p:nvCxnSpPr>
        <p:spPr>
          <a:xfrm rot="10800000">
            <a:off x="5986241" y="4546742"/>
            <a:ext cx="94518" cy="34402"/>
          </a:xfrm>
          <a:prstGeom prst="straightConnector1">
            <a:avLst/>
          </a:prstGeom>
          <a:noFill/>
          <a:ln cap="flat" cmpd="sng" w="12700">
            <a:solidFill>
              <a:srgbClr val="D100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12"/>
          <p:cNvSpPr/>
          <p:nvPr/>
        </p:nvSpPr>
        <p:spPr>
          <a:xfrm>
            <a:off x="5967953" y="4528454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 txBox="1"/>
          <p:nvPr/>
        </p:nvSpPr>
        <p:spPr>
          <a:xfrm>
            <a:off x="6629399" y="44348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endParaRPr/>
          </a:p>
        </p:txBody>
      </p:sp>
      <p:sp>
        <p:nvSpPr>
          <p:cNvPr id="582" name="Google Shape;582;p12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5F1F1"/>
                </a:solidFill>
                <a:latin typeface="Cambria"/>
                <a:ea typeface="Cambria"/>
                <a:cs typeface="Cambria"/>
                <a:sym typeface="Cambria"/>
              </a:rPr>
              <a:t>Thank you.</a:t>
            </a:r>
            <a:endParaRPr/>
          </a:p>
        </p:txBody>
      </p:sp>
      <p:sp>
        <p:nvSpPr>
          <p:cNvPr id="583" name="Google Shape;583;p12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9AEB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